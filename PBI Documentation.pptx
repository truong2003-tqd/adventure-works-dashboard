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C_24B9B9C8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8" r:id="rId2"/>
    <p:sldId id="268" r:id="rId3"/>
    <p:sldId id="259" r:id="rId4"/>
    <p:sldId id="264" r:id="rId5"/>
    <p:sldId id="265" r:id="rId6"/>
    <p:sldId id="266" r:id="rId7"/>
    <p:sldId id="267" r:id="rId8"/>
    <p:sldId id="269" r:id="rId9"/>
    <p:sldId id="270" r:id="rId10"/>
    <p:sldId id="295" r:id="rId11"/>
    <p:sldId id="275" r:id="rId12"/>
    <p:sldId id="271" r:id="rId13"/>
    <p:sldId id="272" r:id="rId14"/>
    <p:sldId id="273" r:id="rId15"/>
    <p:sldId id="285" r:id="rId16"/>
    <p:sldId id="277" r:id="rId17"/>
    <p:sldId id="276" r:id="rId18"/>
    <p:sldId id="284" r:id="rId19"/>
    <p:sldId id="274" r:id="rId20"/>
    <p:sldId id="278" r:id="rId21"/>
    <p:sldId id="279" r:id="rId22"/>
    <p:sldId id="280" r:id="rId23"/>
    <p:sldId id="287" r:id="rId24"/>
    <p:sldId id="283" r:id="rId25"/>
    <p:sldId id="288" r:id="rId26"/>
    <p:sldId id="289" r:id="rId27"/>
    <p:sldId id="290" r:id="rId28"/>
    <p:sldId id="291" r:id="rId29"/>
    <p:sldId id="292" r:id="rId30"/>
    <p:sldId id="293" r:id="rId31"/>
    <p:sldId id="294" r:id="rId32"/>
  </p:sldIdLst>
  <p:sldSz cx="173736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A3F3786-F7E7-E853-056F-277742855D16}" name="Trường Xuân" initials="TX" userId="e2745d13d0f019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2755"/>
    <a:srgbClr val="9CF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24" autoAdjust="0"/>
    <p:restoredTop sz="94660"/>
  </p:normalViewPr>
  <p:slideViewPr>
    <p:cSldViewPr snapToGrid="0">
      <p:cViewPr>
        <p:scale>
          <a:sx n="66" d="100"/>
          <a:sy n="66" d="100"/>
        </p:scale>
        <p:origin x="32" y="-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omments/modernComment_10C_24B9B9C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176CE84-921C-49A4-8E13-5902D017D705}" authorId="{8A3F3786-F7E7-E853-056F-277742855D16}" created="2025-10-25T17:36:52.210">
    <pc:sldMkLst xmlns:pc="http://schemas.microsoft.com/office/powerpoint/2013/main/command">
      <pc:docMk/>
      <pc:sldMk cId="616151496" sldId="268"/>
    </pc:sldMkLst>
    <p188:txBody>
      <a:bodyPr/>
      <a:lstStyle/>
      <a:p>
        <a:r>
          <a:rPr lang="en-US"/>
          <a:t>Slide này mng viết ra giúp anh một cái phần giải thích hoàn chỉnh nha.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5979E-32A5-42D3-A6D2-63289808666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98475" y="1143000"/>
            <a:ext cx="5861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0CB12-146C-474E-AFAE-27D80F88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023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72845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1pPr>
    <a:lvl2pPr marL="636422" algn="l" defTabSz="1272845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2pPr>
    <a:lvl3pPr marL="1272845" algn="l" defTabSz="1272845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3pPr>
    <a:lvl4pPr marL="1909267" algn="l" defTabSz="1272845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4pPr>
    <a:lvl5pPr marL="2545690" algn="l" defTabSz="1272845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5pPr>
    <a:lvl6pPr marL="3182112" algn="l" defTabSz="1272845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6pPr>
    <a:lvl7pPr marL="3818534" algn="l" defTabSz="1272845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7pPr>
    <a:lvl8pPr marL="4454957" algn="l" defTabSz="1272845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8pPr>
    <a:lvl9pPr marL="5091379" algn="l" defTabSz="1272845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93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9B5BF-0689-65BC-2CF7-264DBF578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1AB0B-0FFB-D99A-1AE8-398EE419A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5E67B-783E-A6E2-E912-D6CF71814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F248F-E44C-0C6A-C700-022A3C5CC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36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7197B-7A3C-7768-C7B9-3DBD1DF15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346D8-E4BB-06AD-4174-E33030292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05AE7-E556-6769-7ACB-E326FB0C7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F1E26-1608-6C58-F0B5-1B329AA9E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73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EB337-FE5D-CF9B-87DD-06F406325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9D3C5-73C2-4FE4-074F-E5FDD0C11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373E6-4A77-31A6-2045-2F1C22B3F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F1302-2E99-297F-7117-0D7B5CCFE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40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273C2-0F7A-BDB1-C667-049CCB542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90A596-428D-9C71-54A3-11D61564A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82B1D-F874-EAA5-7F4B-EDF3BDCEF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18F9E-9607-C093-5E0B-83DA28770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9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95FD8-3211-61BE-0843-DBFF66E6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9C2B39-E2D2-6687-3A86-5DF1EAECE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E4079E-CFE2-D41C-1D13-CCBC0F27B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6ADEA-A442-5DE0-B844-3676F85BA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02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AA236-DCA7-4482-D7F6-C647C291E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A37B6-D9BC-8EC0-7443-95B2A6287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16AA8-1960-9D2D-5960-1177437AE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F90DC-A2DB-A5F8-0D88-478B9906F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60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24DB1-FBB6-1DCF-9A90-1BAFA69E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E6754-2DCD-D102-2F3F-34D12288D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4C1FC-2309-0F7C-AE47-CD16CCCF5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A9B35-47A1-6D87-5FA3-29E9A27AE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091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DC6FD-9780-DB23-8CB3-7D576B21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EFB3E-C008-35E6-543C-B4DCF7D72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95C9F-EA03-9D40-78D5-A464A91CA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CEA6F-EC01-A0EA-D7DB-D0B26BBC0C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8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4365D-E40B-387A-D4A8-06F957FD9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6C905-D43B-0ECE-0689-63E009011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B6D57B-D99C-A79F-054C-C6D95F161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A6C94-A466-9FAB-5985-9B25E18EA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576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67264-7468-5531-4510-F8A1E8ED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5C2B7-D7DC-E74B-5E3D-793EAE175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31028-2807-698B-8C42-BCD43D94A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F9090-84A7-FED9-8377-2120D412B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665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F300E-4213-2818-EEC1-F19EDA93F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51C5F-173C-32DA-B091-57492D16B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9E81A-89CF-C9BB-B6FB-511185E0C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837C2-6714-D112-88A0-C7EF5CD5B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99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CD05D-0579-B82A-6CE4-2EEC92905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1E3E5-6CB6-1911-AC6E-53A0BACA7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FF530-F94E-9E33-8BA1-1ECD80321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2CCE3-F364-927D-0A8F-6AD888136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81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6E3B3-7C18-9CB7-DD40-81716A536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F1869-47E2-9B01-14B3-9A246A43E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298FA-20C1-E949-5F6A-50B381F19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79F3F-BDAE-9DDC-8522-0DC64941B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190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85D36-58E2-B6A6-4E2F-880D2855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1707F-F1AE-8AB3-725E-9371850C8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DFBAC-B4BA-A589-96C2-50718441C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BF070-C688-1B5F-B787-CD64F4CA8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78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CE45-CC70-791E-EE50-C6F75A317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B6230-0913-40BD-AB2F-3073D6BD2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F4215-AC4D-EC9A-7807-BD3220026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01E63-1EA8-CA80-42AD-BBFBFD57C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163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E71CB-8AA3-0625-3058-E1F8873D1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C73C1F-41CE-8C5D-0A9E-DFD94E85D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82988-EA8A-66BF-4D07-59BC249A9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83FD8-FAE9-7B9B-7C22-BA02F0806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666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01B97-2300-5C93-64BF-C0A03C920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24BB7D-E9ED-12E1-C78E-7EE7961AF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30596-1AFB-FF00-2DC5-C0A60455A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ADE6-9768-7DA9-EFDD-8F2B1400E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505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18F3A-959C-2D5C-04A0-1786FCCE9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45D40-F681-18E2-ADC2-7F118F565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621B8-C06F-EBCB-2C56-A6B09A8E2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C0105-D495-44F5-C59B-9E1AD967F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619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3C5DD-AC7D-5715-C62C-1FF219734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1798BD-2044-EBCC-EA15-C06A04812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5DA66-9115-200D-EB32-36D9510EC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C9710-5477-38E2-5CD1-D9A5F2258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221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E0449-1A92-C684-B73A-01EAB66BB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DB8D9-1AA5-F784-9AC8-26DFB22B4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EC5EF-B065-DF53-E037-A4486F7D4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7C95A-858B-62D5-87E2-2F5EC4983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549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43B87-625A-D8FA-919A-9FA60D2C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05264-F381-955D-F1E3-1CBB93DC5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2B2C7-48E2-0648-E6D7-DE5533549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BEAFC-7D9A-1347-9A07-A5C189EFE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172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FB4EA-BA01-D511-FD89-DC49E7FD7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E2116-DA74-5D6E-9896-2D3345661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0F64F-6FBD-F532-2BA3-EC1548C9C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98511-080C-60FF-3170-32C91CA08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CB12-146C-474E-AFAE-27D80F88168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42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1700" y="1496484"/>
            <a:ext cx="13030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1700" y="4802717"/>
            <a:ext cx="130302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1EF8-F0E3-4C1D-9BD1-88BFC4162D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A458-DE78-4A2A-8FCB-92B09B82E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97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1EF8-F0E3-4C1D-9BD1-88BFC4162D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A458-DE78-4A2A-8FCB-92B09B82E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96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386" y="2279652"/>
            <a:ext cx="1498473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5386" y="6119285"/>
            <a:ext cx="1498473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1EF8-F0E3-4C1D-9BD1-88BFC4162D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A458-DE78-4A2A-8FCB-92B09B82E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98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4435" y="2434167"/>
            <a:ext cx="738378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95385" y="2434167"/>
            <a:ext cx="738378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1EF8-F0E3-4C1D-9BD1-88BFC4162D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A458-DE78-4A2A-8FCB-92B09B82E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70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486834"/>
            <a:ext cx="1498473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6699" y="2241551"/>
            <a:ext cx="7349846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6699" y="3340100"/>
            <a:ext cx="7349846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95385" y="2241551"/>
            <a:ext cx="7386043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95385" y="3340100"/>
            <a:ext cx="73860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1EF8-F0E3-4C1D-9BD1-88BFC4162D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A458-DE78-4A2A-8FCB-92B09B82E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1EF8-F0E3-4C1D-9BD1-88BFC4162D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A458-DE78-4A2A-8FCB-92B09B82E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75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1EF8-F0E3-4C1D-9BD1-88BFC4162D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A458-DE78-4A2A-8FCB-92B09B82E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14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609600"/>
            <a:ext cx="5603438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6043" y="1316567"/>
            <a:ext cx="879538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698" y="2743200"/>
            <a:ext cx="5603438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1EF8-F0E3-4C1D-9BD1-88BFC4162D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A458-DE78-4A2A-8FCB-92B09B82E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2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609600"/>
            <a:ext cx="5603438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6043" y="1316567"/>
            <a:ext cx="879538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698" y="2743200"/>
            <a:ext cx="5603438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1EF8-F0E3-4C1D-9BD1-88BFC4162D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A458-DE78-4A2A-8FCB-92B09B82E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67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1EF8-F0E3-4C1D-9BD1-88BFC4162D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A458-DE78-4A2A-8FCB-92B09B82E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35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32982" y="486834"/>
            <a:ext cx="374618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4435" y="486834"/>
            <a:ext cx="1102137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1EF8-F0E3-4C1D-9BD1-88BFC4162D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A458-DE78-4A2A-8FCB-92B09B82E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30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4435" y="486834"/>
            <a:ext cx="1498473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435" y="2434167"/>
            <a:ext cx="1498473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4435" y="8475134"/>
            <a:ext cx="390906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61EF8-F0E3-4C1D-9BD1-88BFC4162D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55005" y="8475134"/>
            <a:ext cx="586359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70105" y="8475134"/>
            <a:ext cx="390906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AA458-DE78-4A2A-8FCB-92B09B82E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4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C_24B9B9C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64C57-92AE-306A-B617-4C0D1235C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164EB5-FCD7-BEEE-D706-0BC259CAF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Import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BAC20-09E4-380D-3C51-2D29C958B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473201"/>
            <a:ext cx="3714751" cy="622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67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Check the data format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4B49D59-0219-55F5-E957-122BC7E81B70}"/>
              </a:ext>
            </a:extLst>
          </p:cNvPr>
          <p:cNvSpPr txBox="1">
            <a:spLocks/>
          </p:cNvSpPr>
          <p:nvPr/>
        </p:nvSpPr>
        <p:spPr>
          <a:xfrm>
            <a:off x="755650" y="5200650"/>
            <a:ext cx="6686551" cy="622300"/>
          </a:xfrm>
          <a:prstGeom prst="rect">
            <a:avLst/>
          </a:prstGeom>
        </p:spPr>
        <p:txBody>
          <a:bodyPr vert="horz" lIns="121920" tIns="60960" rIns="121920" bIns="6096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67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 format is csv, so select text/csv to import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3A0DD5-B575-6D4D-A22D-DAD89AAE3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6564" y="2971801"/>
            <a:ext cx="2514736" cy="53042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BAD0B8-CF43-FF77-AC50-B639F5940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1988935"/>
            <a:ext cx="9793067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85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F75D5-16E3-724F-71C3-435F40023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E36C5F-E91E-5609-95CA-E9C799DC7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Create Project Roadmap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D8228B-3432-A0B7-B29A-AE003D81D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802" y="1417475"/>
            <a:ext cx="3763084" cy="61523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CFC1CC-F530-AB38-0339-B9DA802D8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49" y="1417475"/>
            <a:ext cx="8726792" cy="597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15149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63B1F-3EA8-39F1-9D35-44F432D9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76469F-33D3-23E2-161A-288322DFF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Load Data Interface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964C1-9B96-D663-73AA-FD4057141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473201"/>
            <a:ext cx="4984751" cy="557308"/>
          </a:xfrm>
        </p:spPr>
        <p:txBody>
          <a:bodyPr>
            <a:normAutofit/>
          </a:bodyPr>
          <a:lstStyle/>
          <a:p>
            <a:r>
              <a:rPr lang="en-US" sz="2667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Select load data to import</a:t>
            </a:r>
          </a:p>
          <a:p>
            <a:endParaRPr lang="en-US" sz="2667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2396B-A9CB-A635-0A88-28AF16A8F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2781299"/>
            <a:ext cx="7092950" cy="529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28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EEE24-3C7E-C7A9-1926-A9C902CB2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E4C986-BE9E-C784-71ED-429F45C2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Establishing Table Relationships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09C3C-E60F-15D5-0987-0FABFD91B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473201"/>
            <a:ext cx="8521699" cy="7450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  <a:t>At this stage, the data model was constructed following a star schema structure.</a:t>
            </a:r>
          </a:p>
          <a:p>
            <a: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  <a:t>Fact table: Sales Data 2022</a:t>
            </a:r>
          </a:p>
          <a:p>
            <a: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  <a:t>Dimension tables: Product Lookup, Customer Lookup, and Territory Lookup</a:t>
            </a:r>
          </a:p>
          <a:p>
            <a:pPr marL="0" indent="0">
              <a:buNone/>
            </a:pPr>
            <a: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  <a:t>The goal of this design is to centralize transaction-level data in the fact table, while using lookup (dimension) tables to provide descriptive attributes for filtering, slicing, and aggregation.</a:t>
            </a:r>
            <a:b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</a:br>
            <a:endParaRPr lang="en-US" sz="1867" dirty="0">
              <a:latin typeface="Segoe UI Variable Text" pitchFamily="2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  <a:t>Cross filter direction for all table is single.</a:t>
            </a:r>
          </a:p>
          <a:p>
            <a:pPr marL="0" indent="0">
              <a:buNone/>
            </a:pPr>
            <a:endParaRPr lang="en-US" sz="1867" dirty="0">
              <a:latin typeface="Segoe UI Variable Text" pitchFamily="2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1FB10-65A8-D629-B215-802774CD1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950" y="1473200"/>
            <a:ext cx="6316509" cy="47535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08DE4C-AF18-4871-7918-65A04B4C1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38" y="5198532"/>
            <a:ext cx="7946439" cy="310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32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294CA-2024-E4AA-68B3-20241B1C7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AA16AC-CB4A-F85C-48B0-479C32987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Create Calendar Lookup Table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C4A3C-A41C-92D8-D634-74EAD6DBA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473200"/>
            <a:ext cx="8521699" cy="5527219"/>
          </a:xfrm>
          <a:noFill/>
        </p:spPr>
        <p:txBody>
          <a:bodyPr wrap="square">
            <a:spAutoFit/>
          </a:bodyPr>
          <a:lstStyle/>
          <a:p>
            <a:pPr marL="0"/>
            <a: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  <a:t>Purpose:</a:t>
            </a:r>
            <a:b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</a:br>
            <a: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  <a:t>Generates a Calendar (Date Dimension) used to support time-based reporting, trend analysis, and time-intelligence DAX functions.</a:t>
            </a:r>
          </a:p>
          <a:p>
            <a:pPr marL="0"/>
            <a: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  <a:t>Why MIN(</a:t>
            </a:r>
            <a:r>
              <a:rPr lang="en-US" sz="1867" dirty="0" err="1">
                <a:latin typeface="Segoe UI Variable Text" pitchFamily="2" charset="0"/>
                <a:cs typeface="Segoe UI Semibold" panose="020B0702040204020203" pitchFamily="34" charset="0"/>
              </a:rPr>
              <a:t>StockDate</a:t>
            </a:r>
            <a: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  <a:t>) for the start:</a:t>
            </a:r>
          </a:p>
          <a:p>
            <a:pPr marL="609585" lvl="1"/>
            <a:r>
              <a:rPr lang="en-US" sz="1867" dirty="0" err="1">
                <a:latin typeface="Segoe UI Variable Text" pitchFamily="2" charset="0"/>
              </a:rPr>
              <a:t>StockDate</a:t>
            </a:r>
            <a:r>
              <a:rPr lang="en-US" sz="1867" dirty="0">
                <a:latin typeface="Segoe UI Variable Text" pitchFamily="2" charset="0"/>
              </a:rPr>
              <a:t> indicates when items first became available for sale.</a:t>
            </a:r>
          </a:p>
          <a:p>
            <a:pPr marL="609585" lvl="1"/>
            <a:r>
              <a:rPr lang="en-US" sz="1867" dirty="0">
                <a:latin typeface="Segoe UI Variable Text" pitchFamily="2" charset="0"/>
              </a:rPr>
              <a:t>Inventory events typically occur earlier than customer orders.</a:t>
            </a:r>
          </a:p>
          <a:p>
            <a:pPr marL="609585" lvl="1"/>
            <a:r>
              <a:rPr lang="en-US" sz="1867" dirty="0">
                <a:latin typeface="Segoe UI Variable Text" pitchFamily="2" charset="0"/>
              </a:rPr>
              <a:t>Ensures that the calendar includes all relevant pre-sales activities such as stock-in or product availability.</a:t>
            </a:r>
          </a:p>
          <a:p>
            <a:pPr marL="0"/>
            <a: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  <a:t>Why MAX(</a:t>
            </a:r>
            <a:r>
              <a:rPr lang="en-US" sz="1867" dirty="0" err="1">
                <a:latin typeface="Segoe UI Variable Text" pitchFamily="2" charset="0"/>
                <a:cs typeface="Segoe UI Semibold" panose="020B0702040204020203" pitchFamily="34" charset="0"/>
              </a:rPr>
              <a:t>OrderDate</a:t>
            </a:r>
            <a: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  <a:t>) for the end:</a:t>
            </a:r>
          </a:p>
          <a:p>
            <a:pPr marL="609585" lvl="1"/>
            <a:r>
              <a:rPr lang="en-US" sz="1867" dirty="0" err="1">
                <a:latin typeface="Segoe UI Variable Text" pitchFamily="2" charset="0"/>
              </a:rPr>
              <a:t>OrderDate</a:t>
            </a:r>
            <a:r>
              <a:rPr lang="en-US" sz="1867" dirty="0">
                <a:latin typeface="Segoe UI Variable Text" pitchFamily="2" charset="0"/>
              </a:rPr>
              <a:t> represents actual transaction timing.</a:t>
            </a:r>
          </a:p>
          <a:p>
            <a:pPr marL="609585" lvl="1"/>
            <a:r>
              <a:rPr lang="en-US" sz="1867" dirty="0">
                <a:latin typeface="Segoe UI Variable Text" pitchFamily="2" charset="0"/>
              </a:rPr>
              <a:t>It usually extends further than </a:t>
            </a:r>
            <a:r>
              <a:rPr lang="en-US" sz="1867" dirty="0" err="1">
                <a:latin typeface="Segoe UI Variable Text" pitchFamily="2" charset="0"/>
              </a:rPr>
              <a:t>StockDate</a:t>
            </a:r>
            <a:r>
              <a:rPr lang="en-US" sz="1867" dirty="0">
                <a:latin typeface="Segoe UI Variable Text" pitchFamily="2" charset="0"/>
              </a:rPr>
              <a:t> because orders continue after inventory is stocked.</a:t>
            </a:r>
          </a:p>
          <a:p>
            <a:pPr marL="609585" lvl="1"/>
            <a:r>
              <a:rPr lang="en-US" sz="1867" dirty="0">
                <a:latin typeface="Segoe UI Variable Text" pitchFamily="2" charset="0"/>
              </a:rPr>
              <a:t>Ensures that all sales transactions up to the latest record are included.</a:t>
            </a:r>
          </a:p>
          <a:p>
            <a:pPr marL="0"/>
            <a: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  <a:t>Result:</a:t>
            </a:r>
            <a:b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</a:br>
            <a: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  <a:t>The calendar range fully covers the business timeline — from the earliest inventory record to the latest sale — preventing missing or truncated periods in visual filters or time intelligence functions.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6AA01E-A279-757B-9ED7-320CCD86C044}"/>
              </a:ext>
            </a:extLst>
          </p:cNvPr>
          <p:cNvSpPr txBox="1"/>
          <p:nvPr/>
        </p:nvSpPr>
        <p:spPr>
          <a:xfrm>
            <a:off x="9417773" y="1244600"/>
            <a:ext cx="7511328" cy="747897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Calendar Lookup 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MinYear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Get the earliest year in the dataset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Using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StockDate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because inventory typically starts before sales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'Sales Data 2022'[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StockDate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) )</a:t>
            </a:r>
          </a:p>
          <a:p>
            <a:pPr>
              <a:buNone/>
            </a:pPr>
            <a:b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MaxYear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Get the latest year in the dataset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Using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because sales activity usually extends further than stock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'Sales Data 2022'[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) )</a:t>
            </a:r>
          </a:p>
          <a:p>
            <a:pPr>
              <a:buNone/>
            </a:pPr>
            <a:b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Generate a continuous list of daily dates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The calendar starts from January 1st of the earliest year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and ends on December 31st of the latest year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MinYear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),</a:t>
            </a: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MaxYear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</p:spTree>
    <p:extLst>
      <p:ext uri="{BB962C8B-B14F-4D97-AF65-F5344CB8AC3E}">
        <p14:creationId xmlns:p14="http://schemas.microsoft.com/office/powerpoint/2010/main" val="942781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E0B65-8D9B-1C48-D730-5E2E4C7EA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D7A725-FF19-84F7-6915-D34BC614D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Create Time-intelligence columns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AE76-C30B-D766-2B04-C1EF8FF16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473201"/>
            <a:ext cx="8521699" cy="868123"/>
          </a:xfrm>
          <a:noFill/>
        </p:spPr>
        <p:txBody>
          <a:bodyPr wrap="square">
            <a:spAutoFit/>
          </a:bodyPr>
          <a:lstStyle/>
          <a:p>
            <a:pPr marL="0"/>
            <a:r>
              <a:rPr lang="en-US" sz="1867" dirty="0">
                <a:latin typeface="Segoe UI Variable Text" pitchFamily="2" charset="0"/>
                <a:cs typeface="Segoe UI Semibold" panose="020B0702040204020203" pitchFamily="34" charset="0"/>
              </a:rPr>
              <a:t>These columns turn the basic date list into a full time dimension that supports consistent, sortable, and readable daily, monthly, quarterly, and yearly analysis across all visuals and DAX measures.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B8CD27-4625-6371-5748-C7F64670CDAC}"/>
              </a:ext>
            </a:extLst>
          </p:cNvPr>
          <p:cNvSpPr txBox="1"/>
          <p:nvPr/>
        </p:nvSpPr>
        <p:spPr>
          <a:xfrm>
            <a:off x="929939" y="2388842"/>
            <a:ext cx="7079527" cy="45929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EOY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ENDOFYEAR(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Calendar Lookup'[Date]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E5E5F-2958-7C10-1C42-512876896F85}"/>
              </a:ext>
            </a:extLst>
          </p:cNvPr>
          <p:cNvSpPr txBox="1"/>
          <p:nvPr/>
        </p:nvSpPr>
        <p:spPr>
          <a:xfrm>
            <a:off x="929938" y="3803705"/>
            <a:ext cx="7079527" cy="45929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EOM (text)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ENDOFMONTH(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Calendar Lookup'[Date]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A4F58C-5B2A-2DDD-3610-99E1CEF0723A}"/>
              </a:ext>
            </a:extLst>
          </p:cNvPr>
          <p:cNvSpPr txBox="1"/>
          <p:nvPr/>
        </p:nvSpPr>
        <p:spPr>
          <a:xfrm>
            <a:off x="929938" y="5311701"/>
            <a:ext cx="7079527" cy="45929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EOM (number)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ENDOFMONTH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'Calendar Lookup'[Date]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9D95D5-4DD3-73F3-B911-F74B98C6B47F}"/>
              </a:ext>
            </a:extLst>
          </p:cNvPr>
          <p:cNvSpPr txBox="1"/>
          <p:nvPr/>
        </p:nvSpPr>
        <p:spPr>
          <a:xfrm>
            <a:off x="929937" y="6874782"/>
            <a:ext cx="7079527" cy="45929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EOQ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ENDOFQUARTER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'Calendar Lookup'[Date]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DDA9C-44B9-EABA-92DB-EFBF0285DBD6}"/>
              </a:ext>
            </a:extLst>
          </p:cNvPr>
          <p:cNvSpPr txBox="1"/>
          <p:nvPr/>
        </p:nvSpPr>
        <p:spPr>
          <a:xfrm>
            <a:off x="8583805" y="2371909"/>
            <a:ext cx="7079527" cy="45929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Year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'Calendar Lookup'[Date]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35877D-E8AB-CFC4-C37C-CCA231EA1D47}"/>
              </a:ext>
            </a:extLst>
          </p:cNvPr>
          <p:cNvSpPr txBox="1"/>
          <p:nvPr/>
        </p:nvSpPr>
        <p:spPr>
          <a:xfrm>
            <a:off x="8583805" y="3803705"/>
            <a:ext cx="7079527" cy="12464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Month (text) =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FORMAT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 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[Date]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16989"/>
                </a:solidFill>
                <a:latin typeface="Consolas" panose="020B0609020204030204" pitchFamily="49" charset="0"/>
              </a:rPr>
              <a:t>"mmm"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060887-E4AF-8A26-0032-23CD4F6AF752}"/>
              </a:ext>
            </a:extLst>
          </p:cNvPr>
          <p:cNvSpPr txBox="1"/>
          <p:nvPr/>
        </p:nvSpPr>
        <p:spPr>
          <a:xfrm>
            <a:off x="8583805" y="5311701"/>
            <a:ext cx="7079527" cy="45929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Month (number)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[Date]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9E9B55-086A-E73D-422C-520017DC8AEA}"/>
              </a:ext>
            </a:extLst>
          </p:cNvPr>
          <p:cNvSpPr txBox="1"/>
          <p:nvPr/>
        </p:nvSpPr>
        <p:spPr>
          <a:xfrm>
            <a:off x="8583803" y="6874782"/>
            <a:ext cx="7079527" cy="45929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Day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[Date]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894592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CCCA-FF4E-77AC-727F-0EB3AE550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6A71BC-9614-CEEA-776A-A7D3D1A5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Explain Time-intelligence columns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8EF53D-DC37-9743-46A1-9116EF40F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981" y="1528581"/>
            <a:ext cx="10412775" cy="643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55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2F527-7541-CA1C-8A25-809372F0B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6DFFDE-1200-B7DF-84B6-956E3E78C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Analyze Requirement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AF1F9-FA94-CEC2-95E0-AF08A9AE2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473200"/>
            <a:ext cx="6949016" cy="5306646"/>
          </a:xfrm>
          <a:noFill/>
        </p:spPr>
        <p:txBody>
          <a:bodyPr wrap="square">
            <a:spAutoFit/>
          </a:bodyPr>
          <a:lstStyle/>
          <a:p>
            <a:pPr marL="0"/>
            <a:r>
              <a:rPr lang="en-US" sz="1867" b="1" dirty="0"/>
              <a:t>Introduction</a:t>
            </a:r>
            <a:br>
              <a:rPr lang="en-US" sz="1867" dirty="0"/>
            </a:br>
            <a:r>
              <a:rPr lang="en-US" sz="1867" dirty="0"/>
              <a:t>The goal is to build two dashboards to help </a:t>
            </a:r>
            <a:r>
              <a:rPr lang="en-US" sz="1867" b="1" dirty="0"/>
              <a:t>Sales Managers</a:t>
            </a:r>
            <a:r>
              <a:rPr lang="en-US" sz="1867" dirty="0"/>
              <a:t> and </a:t>
            </a:r>
            <a:r>
              <a:rPr lang="en-US" sz="1867" b="1" dirty="0"/>
              <a:t>Executives</a:t>
            </a:r>
            <a:r>
              <a:rPr lang="en-US" sz="1867" dirty="0"/>
              <a:t> analyze </a:t>
            </a:r>
            <a:r>
              <a:rPr lang="en-US" sz="1867" b="1" dirty="0"/>
              <a:t>sales performance</a:t>
            </a:r>
            <a:r>
              <a:rPr lang="en-US" sz="1867" dirty="0"/>
              <a:t> and </a:t>
            </a:r>
            <a:r>
              <a:rPr lang="en-US" sz="1867" b="1" dirty="0"/>
              <a:t>customer insights</a:t>
            </a:r>
            <a:r>
              <a:rPr lang="en-US" sz="1867" dirty="0"/>
              <a:t> effectively.</a:t>
            </a:r>
            <a:endParaRPr lang="en-US" sz="1867" dirty="0">
              <a:latin typeface="Segoe UI Variable Text" pitchFamily="2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US" sz="1867" b="1" dirty="0"/>
              <a:t>Dashboard Requirements</a:t>
            </a:r>
          </a:p>
          <a:p>
            <a:pPr marL="0" indent="0">
              <a:buNone/>
            </a:pPr>
            <a:r>
              <a:rPr lang="en-US" sz="1867" b="1" dirty="0"/>
              <a:t> Dashboard Purpose</a:t>
            </a:r>
            <a:endParaRPr lang="en-US" sz="1867" dirty="0"/>
          </a:p>
          <a:p>
            <a:r>
              <a:rPr lang="en-US" sz="1867" dirty="0"/>
              <a:t>Provide a clear overview of sales performance across time and customer groups.</a:t>
            </a:r>
          </a:p>
          <a:p>
            <a:r>
              <a:rPr lang="en-US" sz="1867" dirty="0"/>
              <a:t>Support decision-making by showing trends, comparisons, and granular insights  such as YoY and MoM growth</a:t>
            </a:r>
          </a:p>
          <a:p>
            <a:pPr>
              <a:buNone/>
            </a:pPr>
            <a:r>
              <a:rPr lang="en-US" sz="1867" b="1" dirty="0"/>
              <a:t>Trend Analysis</a:t>
            </a:r>
            <a:endParaRPr lang="en-US" sz="1867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67" dirty="0"/>
              <a:t>Present key sales metrics: </a:t>
            </a:r>
            <a:r>
              <a:rPr lang="en-US" sz="1867" b="1" dirty="0"/>
              <a:t>Units Sold</a:t>
            </a:r>
            <a:r>
              <a:rPr lang="en-US" sz="1867" dirty="0"/>
              <a:t>, </a:t>
            </a:r>
            <a:r>
              <a:rPr lang="en-US" sz="1867" b="1" dirty="0"/>
              <a:t>Revenue</a:t>
            </a:r>
            <a:r>
              <a:rPr lang="en-US" sz="1867" dirty="0"/>
              <a:t>, and </a:t>
            </a:r>
            <a:r>
              <a:rPr lang="en-US" sz="1867" b="1" dirty="0"/>
              <a:t>Profit</a:t>
            </a:r>
            <a:r>
              <a:rPr lang="en-US" sz="1867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7" dirty="0"/>
              <a:t>Compare YoY, </a:t>
            </a:r>
            <a:r>
              <a:rPr lang="en-US" sz="1867" b="1" dirty="0"/>
              <a:t>MoM</a:t>
            </a:r>
            <a:r>
              <a:rPr lang="en-US" sz="1867" dirty="0"/>
              <a:t> performance to track growth or decline.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7" dirty="0"/>
              <a:t>Highlight </a:t>
            </a:r>
            <a:r>
              <a:rPr lang="en-US" sz="1867" b="1" dirty="0"/>
              <a:t>highest and lowest months</a:t>
            </a:r>
            <a:r>
              <a:rPr lang="en-US" sz="1867" dirty="0"/>
              <a:t> to help users identify peaks and dips easily.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0FBA673-F502-8BFC-6787-03ADD63813B3}"/>
              </a:ext>
            </a:extLst>
          </p:cNvPr>
          <p:cNvSpPr txBox="1">
            <a:spLocks/>
          </p:cNvSpPr>
          <p:nvPr/>
        </p:nvSpPr>
        <p:spPr>
          <a:xfrm>
            <a:off x="8686799" y="1473200"/>
            <a:ext cx="7931151" cy="4768934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/>
              <a:t>Comparative Analysis</a:t>
            </a:r>
            <a:endParaRPr lang="en-US" sz="1867" dirty="0"/>
          </a:p>
          <a:p>
            <a:r>
              <a:rPr lang="en-US" sz="1867" dirty="0"/>
              <a:t>Allow quick comparison of performance </a:t>
            </a:r>
            <a:r>
              <a:rPr lang="en-US" sz="1867" b="1" dirty="0"/>
              <a:t>by region</a:t>
            </a:r>
            <a:r>
              <a:rPr lang="en-US" sz="1867" dirty="0"/>
              <a:t>.</a:t>
            </a:r>
          </a:p>
          <a:p>
            <a:r>
              <a:rPr lang="en-US" sz="1867" dirty="0"/>
              <a:t>Identify which </a:t>
            </a:r>
            <a:r>
              <a:rPr lang="en-US" sz="1867" b="1" dirty="0"/>
              <a:t>customer segments (demographics)</a:t>
            </a:r>
            <a:r>
              <a:rPr lang="en-US" sz="1867" dirty="0"/>
              <a:t> have the highest or lowest sales metrics.</a:t>
            </a:r>
          </a:p>
          <a:p>
            <a:r>
              <a:rPr lang="en-US" sz="1867" dirty="0"/>
              <a:t>Compare </a:t>
            </a:r>
            <a:r>
              <a:rPr lang="en-US" sz="1867" b="1" dirty="0"/>
              <a:t>product-level performance</a:t>
            </a:r>
            <a:r>
              <a:rPr lang="en-US" sz="1867" dirty="0"/>
              <a:t> across the portfolio.</a:t>
            </a:r>
          </a:p>
          <a:p>
            <a:pPr marL="0" indent="0">
              <a:buNone/>
            </a:pPr>
            <a:r>
              <a:rPr lang="en-US" sz="1867" b="1" dirty="0"/>
              <a:t>Granularity</a:t>
            </a:r>
            <a:endParaRPr lang="en-US" sz="1867" dirty="0"/>
          </a:p>
          <a:p>
            <a:r>
              <a:rPr lang="en-US" sz="1867" dirty="0"/>
              <a:t>Support multi-level drill-down for deeper trend analysis.</a:t>
            </a:r>
          </a:p>
          <a:p>
            <a:pPr marL="0" indent="0">
              <a:buNone/>
            </a:pPr>
            <a:r>
              <a:rPr lang="en-US" sz="1867" b="1" dirty="0"/>
              <a:t>Design &amp; Interaction</a:t>
            </a:r>
            <a:endParaRPr lang="en-US" sz="1867" dirty="0"/>
          </a:p>
          <a:p>
            <a:r>
              <a:rPr lang="en-US" sz="1867" dirty="0"/>
              <a:t>Include </a:t>
            </a:r>
            <a:r>
              <a:rPr lang="en-US" sz="1867" b="1" dirty="0"/>
              <a:t>filters and slicers</a:t>
            </a:r>
            <a:r>
              <a:rPr lang="en-US" sz="1867" dirty="0"/>
              <a:t> to let users interact with different product categories or regions.</a:t>
            </a:r>
          </a:p>
          <a:p>
            <a:r>
              <a:rPr lang="en-US" sz="1867" dirty="0"/>
              <a:t>Ensure visuals support </a:t>
            </a:r>
            <a:r>
              <a:rPr lang="en-US" sz="1867" b="1" dirty="0"/>
              <a:t>drill-down analysis</a:t>
            </a:r>
            <a:r>
              <a:rPr lang="en-US" sz="1867" dirty="0"/>
              <a:t> for detailed insights.</a:t>
            </a:r>
          </a:p>
          <a:p>
            <a:endParaRPr lang="en-US" sz="1867" dirty="0"/>
          </a:p>
          <a:p>
            <a:endParaRPr lang="en-US" sz="1867" dirty="0"/>
          </a:p>
        </p:txBody>
      </p:sp>
    </p:spTree>
    <p:extLst>
      <p:ext uri="{BB962C8B-B14F-4D97-AF65-F5344CB8AC3E}">
        <p14:creationId xmlns:p14="http://schemas.microsoft.com/office/powerpoint/2010/main" val="1891277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58E79-822F-B17B-7825-81839F0D0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171101-A61D-D5AF-6C75-A986FE42E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Overview Dashboard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6F878-8533-944C-510A-5572EB5AB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237" y="1355923"/>
            <a:ext cx="6949016" cy="464166"/>
          </a:xfr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667" b="1" dirty="0"/>
              <a:t>Overview Dashboard</a:t>
            </a:r>
            <a:endParaRPr lang="en-US" sz="2667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C586FA-839D-C120-DB6B-6EFEE9448CDB}"/>
              </a:ext>
            </a:extLst>
          </p:cNvPr>
          <p:cNvSpPr/>
          <p:nvPr/>
        </p:nvSpPr>
        <p:spPr>
          <a:xfrm>
            <a:off x="2793998" y="2374901"/>
            <a:ext cx="4152903" cy="6548967"/>
          </a:xfrm>
          <a:prstGeom prst="roundRect">
            <a:avLst>
              <a:gd name="adj" fmla="val 47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1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B9FE83-E4CC-071A-D60C-0F6DE2F91D7F}"/>
              </a:ext>
            </a:extLst>
          </p:cNvPr>
          <p:cNvSpPr/>
          <p:nvPr/>
        </p:nvSpPr>
        <p:spPr>
          <a:xfrm>
            <a:off x="345010" y="1244601"/>
            <a:ext cx="15796689" cy="8382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4484409-9223-B40A-33B7-3012AAD6F48E}"/>
              </a:ext>
            </a:extLst>
          </p:cNvPr>
          <p:cNvSpPr/>
          <p:nvPr/>
        </p:nvSpPr>
        <p:spPr>
          <a:xfrm>
            <a:off x="419195" y="2374901"/>
            <a:ext cx="2070006" cy="6548967"/>
          </a:xfrm>
          <a:prstGeom prst="roundRect">
            <a:avLst>
              <a:gd name="adj" fmla="val 4788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1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F1E817B-D386-8432-347B-CB90EB774C36}"/>
              </a:ext>
            </a:extLst>
          </p:cNvPr>
          <p:cNvSpPr txBox="1">
            <a:spLocks/>
          </p:cNvSpPr>
          <p:nvPr/>
        </p:nvSpPr>
        <p:spPr>
          <a:xfrm>
            <a:off x="345010" y="2374900"/>
            <a:ext cx="2070006" cy="494944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67" b="1" dirty="0"/>
              <a:t>Navigation</a:t>
            </a:r>
            <a:endParaRPr lang="en-US" sz="2667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A019FA5-F406-41D2-C159-8DBB97E5703B}"/>
              </a:ext>
            </a:extLst>
          </p:cNvPr>
          <p:cNvSpPr/>
          <p:nvPr/>
        </p:nvSpPr>
        <p:spPr>
          <a:xfrm>
            <a:off x="2793998" y="2818937"/>
            <a:ext cx="4152901" cy="1510779"/>
          </a:xfrm>
          <a:prstGeom prst="roundRect">
            <a:avLst>
              <a:gd name="adj" fmla="val 47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1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F9393B4-3933-05FD-550B-547964AAFE02}"/>
              </a:ext>
            </a:extLst>
          </p:cNvPr>
          <p:cNvSpPr txBox="1">
            <a:spLocks/>
          </p:cNvSpPr>
          <p:nvPr/>
        </p:nvSpPr>
        <p:spPr>
          <a:xfrm>
            <a:off x="2988461" y="2349501"/>
            <a:ext cx="1888339" cy="494944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67" b="1" dirty="0"/>
              <a:t>Unit Sold</a:t>
            </a:r>
            <a:endParaRPr lang="en-US" sz="2667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3BDCF7D7-FC50-DC49-C4B1-C0A76FC8A578}"/>
              </a:ext>
            </a:extLst>
          </p:cNvPr>
          <p:cNvSpPr txBox="1">
            <a:spLocks/>
          </p:cNvSpPr>
          <p:nvPr/>
        </p:nvSpPr>
        <p:spPr>
          <a:xfrm>
            <a:off x="2793997" y="2897700"/>
            <a:ext cx="4152900" cy="1360822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Display the  total Unit Sold of the current year.</a:t>
            </a:r>
          </a:p>
          <a:p>
            <a:r>
              <a:rPr lang="en-US" sz="1600" dirty="0"/>
              <a:t>Display the YoY change as KPI’s detail. Format increase with green, decrease with red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50D807F-7CC1-F0FE-15D6-8C8BC1EA70A0}"/>
              </a:ext>
            </a:extLst>
          </p:cNvPr>
          <p:cNvSpPr/>
          <p:nvPr/>
        </p:nvSpPr>
        <p:spPr>
          <a:xfrm>
            <a:off x="2793906" y="5025337"/>
            <a:ext cx="4152901" cy="1024468"/>
          </a:xfrm>
          <a:prstGeom prst="roundRect">
            <a:avLst>
              <a:gd name="adj" fmla="val 47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1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335CC0C-674B-07EE-14CF-E4605A42D971}"/>
              </a:ext>
            </a:extLst>
          </p:cNvPr>
          <p:cNvSpPr txBox="1">
            <a:spLocks/>
          </p:cNvSpPr>
          <p:nvPr/>
        </p:nvSpPr>
        <p:spPr>
          <a:xfrm>
            <a:off x="2793908" y="5099900"/>
            <a:ext cx="4152900" cy="789383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Show 12-month trend by column chart. Dark color for above-average, grey for below-average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2F23CA2-CF7F-2072-5256-C57CF06E6DD7}"/>
              </a:ext>
            </a:extLst>
          </p:cNvPr>
          <p:cNvSpPr/>
          <p:nvPr/>
        </p:nvSpPr>
        <p:spPr>
          <a:xfrm>
            <a:off x="2793952" y="7004858"/>
            <a:ext cx="4152901" cy="1024468"/>
          </a:xfrm>
          <a:prstGeom prst="roundRect">
            <a:avLst>
              <a:gd name="adj" fmla="val 47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1"/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54541631-05D6-8017-3933-92962939E8E5}"/>
              </a:ext>
            </a:extLst>
          </p:cNvPr>
          <p:cNvSpPr txBox="1">
            <a:spLocks/>
          </p:cNvSpPr>
          <p:nvPr/>
        </p:nvSpPr>
        <p:spPr>
          <a:xfrm>
            <a:off x="2793906" y="7065827"/>
            <a:ext cx="4152900" cy="567784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Column chart shows top 5 highest or lowest  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3ADD740-2477-84FF-8131-4B5311B9A2DD}"/>
              </a:ext>
            </a:extLst>
          </p:cNvPr>
          <p:cNvSpPr/>
          <p:nvPr/>
        </p:nvSpPr>
        <p:spPr>
          <a:xfrm>
            <a:off x="7446067" y="2374901"/>
            <a:ext cx="4152903" cy="6548967"/>
          </a:xfrm>
          <a:prstGeom prst="roundRect">
            <a:avLst>
              <a:gd name="adj" fmla="val 47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1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55FA293-1A73-1A3E-33CB-A979BADE408E}"/>
              </a:ext>
            </a:extLst>
          </p:cNvPr>
          <p:cNvSpPr/>
          <p:nvPr/>
        </p:nvSpPr>
        <p:spPr>
          <a:xfrm>
            <a:off x="7446067" y="2818937"/>
            <a:ext cx="4152901" cy="1510779"/>
          </a:xfrm>
          <a:prstGeom prst="roundRect">
            <a:avLst>
              <a:gd name="adj" fmla="val 47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1"/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B22CB6C9-9EF0-EF00-988B-E0A61363D7FD}"/>
              </a:ext>
            </a:extLst>
          </p:cNvPr>
          <p:cNvSpPr txBox="1">
            <a:spLocks/>
          </p:cNvSpPr>
          <p:nvPr/>
        </p:nvSpPr>
        <p:spPr>
          <a:xfrm>
            <a:off x="7640531" y="2349501"/>
            <a:ext cx="1888339" cy="494944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67" b="1" dirty="0"/>
              <a:t>Revenue</a:t>
            </a:r>
            <a:endParaRPr lang="en-US" sz="2667" dirty="0"/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9C0BED2D-326C-D542-9DB1-B179C34499A6}"/>
              </a:ext>
            </a:extLst>
          </p:cNvPr>
          <p:cNvSpPr txBox="1">
            <a:spLocks/>
          </p:cNvSpPr>
          <p:nvPr/>
        </p:nvSpPr>
        <p:spPr>
          <a:xfrm>
            <a:off x="7446066" y="2897700"/>
            <a:ext cx="4152900" cy="1139223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Display the  revenue of the  current year</a:t>
            </a:r>
          </a:p>
          <a:p>
            <a:r>
              <a:rPr lang="en-US" sz="1600" dirty="0"/>
              <a:t>Display the YoY change as KPI’s detail. Format increase with green, decrease with red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671A6A5-D39D-DF51-FB14-A9F374A17E91}"/>
              </a:ext>
            </a:extLst>
          </p:cNvPr>
          <p:cNvSpPr/>
          <p:nvPr/>
        </p:nvSpPr>
        <p:spPr>
          <a:xfrm>
            <a:off x="7445976" y="5025337"/>
            <a:ext cx="4152901" cy="1024468"/>
          </a:xfrm>
          <a:prstGeom prst="roundRect">
            <a:avLst>
              <a:gd name="adj" fmla="val 47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1"/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720DED4A-9C2C-6CF5-6D72-76F2D6EE0DFF}"/>
              </a:ext>
            </a:extLst>
          </p:cNvPr>
          <p:cNvSpPr txBox="1">
            <a:spLocks/>
          </p:cNvSpPr>
          <p:nvPr/>
        </p:nvSpPr>
        <p:spPr>
          <a:xfrm>
            <a:off x="7445977" y="5099900"/>
            <a:ext cx="4152900" cy="789383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Show 12-month trend by column chart. Dark color for above-average, grey for below-average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9B55B57-9652-1D91-FAD2-DE8B0F6C83C9}"/>
              </a:ext>
            </a:extLst>
          </p:cNvPr>
          <p:cNvSpPr/>
          <p:nvPr/>
        </p:nvSpPr>
        <p:spPr>
          <a:xfrm>
            <a:off x="7446022" y="7004858"/>
            <a:ext cx="4152901" cy="1024468"/>
          </a:xfrm>
          <a:prstGeom prst="roundRect">
            <a:avLst>
              <a:gd name="adj" fmla="val 47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1"/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5B61602F-61E6-FFC4-20DF-FC842F3DC68C}"/>
              </a:ext>
            </a:extLst>
          </p:cNvPr>
          <p:cNvSpPr txBox="1">
            <a:spLocks/>
          </p:cNvSpPr>
          <p:nvPr/>
        </p:nvSpPr>
        <p:spPr>
          <a:xfrm>
            <a:off x="7445975" y="7065827"/>
            <a:ext cx="4152900" cy="567784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Column chart shows top 5 highest or lowest  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3BF4855-E23F-92E7-E700-48ED40B161C4}"/>
              </a:ext>
            </a:extLst>
          </p:cNvPr>
          <p:cNvSpPr/>
          <p:nvPr/>
        </p:nvSpPr>
        <p:spPr>
          <a:xfrm>
            <a:off x="11977858" y="2400299"/>
            <a:ext cx="4152903" cy="6548967"/>
          </a:xfrm>
          <a:prstGeom prst="roundRect">
            <a:avLst>
              <a:gd name="adj" fmla="val 47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1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8E247CA-0894-816B-32B4-D3AB25B9C490}"/>
              </a:ext>
            </a:extLst>
          </p:cNvPr>
          <p:cNvSpPr/>
          <p:nvPr/>
        </p:nvSpPr>
        <p:spPr>
          <a:xfrm>
            <a:off x="11977858" y="2844336"/>
            <a:ext cx="4152901" cy="1510779"/>
          </a:xfrm>
          <a:prstGeom prst="roundRect">
            <a:avLst>
              <a:gd name="adj" fmla="val 47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1"/>
          </a:p>
        </p:txBody>
      </p:sp>
      <p:sp>
        <p:nvSpPr>
          <p:cNvPr id="40" name="Content Placeholder 3">
            <a:extLst>
              <a:ext uri="{FF2B5EF4-FFF2-40B4-BE49-F238E27FC236}">
                <a16:creationId xmlns:a16="http://schemas.microsoft.com/office/drawing/2014/main" id="{4E1EF2EC-FCBD-540B-06D2-AA4ED2114147}"/>
              </a:ext>
            </a:extLst>
          </p:cNvPr>
          <p:cNvSpPr txBox="1">
            <a:spLocks/>
          </p:cNvSpPr>
          <p:nvPr/>
        </p:nvSpPr>
        <p:spPr>
          <a:xfrm>
            <a:off x="12172321" y="2374900"/>
            <a:ext cx="1888339" cy="494944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67" b="1" dirty="0"/>
              <a:t>Profit</a:t>
            </a:r>
            <a:endParaRPr lang="en-US" sz="2667" dirty="0"/>
          </a:p>
        </p:txBody>
      </p:sp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8857EA42-59B6-6A04-C442-303B64CE6F50}"/>
              </a:ext>
            </a:extLst>
          </p:cNvPr>
          <p:cNvSpPr txBox="1">
            <a:spLocks/>
          </p:cNvSpPr>
          <p:nvPr/>
        </p:nvSpPr>
        <p:spPr>
          <a:xfrm>
            <a:off x="11977857" y="2923099"/>
            <a:ext cx="4152900" cy="1360822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Display the  total of profit the  current year.</a:t>
            </a:r>
          </a:p>
          <a:p>
            <a:r>
              <a:rPr lang="en-US" sz="1600" dirty="0"/>
              <a:t>Display the YoY change as KPI’s detail. Format increase with green, decrease with red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56D41AB-392E-90A5-35DC-DE5798D3C6F7}"/>
              </a:ext>
            </a:extLst>
          </p:cNvPr>
          <p:cNvSpPr/>
          <p:nvPr/>
        </p:nvSpPr>
        <p:spPr>
          <a:xfrm>
            <a:off x="11977766" y="5050736"/>
            <a:ext cx="4152901" cy="1024468"/>
          </a:xfrm>
          <a:prstGeom prst="roundRect">
            <a:avLst>
              <a:gd name="adj" fmla="val 47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1"/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CF66D9BD-59E3-C860-82A5-80AEAEC34DEF}"/>
              </a:ext>
            </a:extLst>
          </p:cNvPr>
          <p:cNvSpPr txBox="1">
            <a:spLocks/>
          </p:cNvSpPr>
          <p:nvPr/>
        </p:nvSpPr>
        <p:spPr>
          <a:xfrm>
            <a:off x="11977768" y="5125298"/>
            <a:ext cx="4152900" cy="789383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Show 12-month trend by column chart. Dark color for above-average, grey for below-average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0148D77-7C6A-AC20-57C3-F43176ED3477}"/>
              </a:ext>
            </a:extLst>
          </p:cNvPr>
          <p:cNvSpPr/>
          <p:nvPr/>
        </p:nvSpPr>
        <p:spPr>
          <a:xfrm>
            <a:off x="11977812" y="7030257"/>
            <a:ext cx="4152901" cy="1024468"/>
          </a:xfrm>
          <a:prstGeom prst="roundRect">
            <a:avLst>
              <a:gd name="adj" fmla="val 47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1"/>
          </a:p>
        </p:txBody>
      </p:sp>
      <p:sp>
        <p:nvSpPr>
          <p:cNvPr id="45" name="Content Placeholder 3">
            <a:extLst>
              <a:ext uri="{FF2B5EF4-FFF2-40B4-BE49-F238E27FC236}">
                <a16:creationId xmlns:a16="http://schemas.microsoft.com/office/drawing/2014/main" id="{EF090979-E6F0-EE40-5EA9-E7233CCF039E}"/>
              </a:ext>
            </a:extLst>
          </p:cNvPr>
          <p:cNvSpPr txBox="1">
            <a:spLocks/>
          </p:cNvSpPr>
          <p:nvPr/>
        </p:nvSpPr>
        <p:spPr>
          <a:xfrm>
            <a:off x="11977766" y="7091225"/>
            <a:ext cx="4152900" cy="567784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Column chart shows top 5 highest or lowest  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049E3B6E-8EDA-6AF6-0403-60CBE6ABAECA}"/>
              </a:ext>
            </a:extLst>
          </p:cNvPr>
          <p:cNvSpPr txBox="1">
            <a:spLocks/>
          </p:cNvSpPr>
          <p:nvPr/>
        </p:nvSpPr>
        <p:spPr>
          <a:xfrm>
            <a:off x="308022" y="1381885"/>
            <a:ext cx="1146176" cy="494944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67" b="1" dirty="0"/>
              <a:t>Filter</a:t>
            </a:r>
            <a:endParaRPr lang="en-US" sz="2667" dirty="0"/>
          </a:p>
        </p:txBody>
      </p:sp>
    </p:spTree>
    <p:extLst>
      <p:ext uri="{BB962C8B-B14F-4D97-AF65-F5344CB8AC3E}">
        <p14:creationId xmlns:p14="http://schemas.microsoft.com/office/powerpoint/2010/main" val="783362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49DB3-A779-7777-095D-8B735F115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E56AED-A28A-B369-3ABE-3FAAF0094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Mock-up</a:t>
            </a:r>
          </a:p>
        </p:txBody>
      </p:sp>
      <p:sp>
        <p:nvSpPr>
          <p:cNvPr id="9" name="AutoShape 6" descr="Generated image">
            <a:extLst>
              <a:ext uri="{FF2B5EF4-FFF2-40B4-BE49-F238E27FC236}">
                <a16:creationId xmlns:a16="http://schemas.microsoft.com/office/drawing/2014/main" id="{065D9F7D-A166-736D-4E58-7141D31CC2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34400" y="4419600"/>
            <a:ext cx="6248400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5A09D5F0-6378-3AC4-007B-BEF734CE2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550" y="1358899"/>
            <a:ext cx="10623550" cy="708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75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66111-10DE-66EB-6956-137402AD2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3644F0-25BC-9D3E-9E23-08F21F4D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Set up Canvas Size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D878C-C79F-7B07-CFA5-9880DCFEB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473201"/>
            <a:ext cx="6949016" cy="352597"/>
          </a:xfrm>
          <a:noFill/>
        </p:spPr>
        <p:txBody>
          <a:bodyPr wrap="square">
            <a:spAutoFit/>
          </a:bodyPr>
          <a:lstStyle/>
          <a:p>
            <a:r>
              <a:rPr lang="en-US" sz="1867" b="1" dirty="0"/>
              <a:t>Change Canvas size to 1920 x 1080</a:t>
            </a:r>
            <a:endParaRPr lang="en-US" sz="1867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E73DDB-43EF-0C0A-9771-73B7FA74A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159" y="2085153"/>
            <a:ext cx="2076739" cy="68268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FD2B4B-8A7F-2C84-90B5-DF81474B8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709" y="2085154"/>
            <a:ext cx="3442180" cy="502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152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9E403-B9C9-0534-D2F9-F16E2747D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C4E796-2E45-35D9-A889-E2A324198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Calculate Needed Columns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22A10-D2D4-A82E-E337-AA4ECB5D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473201"/>
            <a:ext cx="6949016" cy="1979003"/>
          </a:xfrm>
          <a:noFill/>
        </p:spPr>
        <p:txBody>
          <a:bodyPr wrap="square">
            <a:spAutoFit/>
          </a:bodyPr>
          <a:lstStyle/>
          <a:p>
            <a:r>
              <a:rPr lang="en-US" sz="1867" b="1" dirty="0"/>
              <a:t>Unit Sold</a:t>
            </a:r>
            <a:br>
              <a:rPr lang="en-US" sz="1867" dirty="0"/>
            </a:br>
            <a:r>
              <a:rPr lang="en-US" sz="1867" dirty="0"/>
              <a:t>= Sum of all quantities sold</a:t>
            </a:r>
          </a:p>
          <a:p>
            <a:r>
              <a:rPr lang="en-US" sz="1867" b="1" dirty="0"/>
              <a:t>Revenue</a:t>
            </a:r>
            <a:br>
              <a:rPr lang="en-US" sz="1867" dirty="0"/>
            </a:br>
            <a:r>
              <a:rPr lang="en-US" sz="1867" dirty="0"/>
              <a:t>= Quantity × Price</a:t>
            </a:r>
          </a:p>
          <a:p>
            <a:r>
              <a:rPr lang="en-US" sz="1867" b="1" dirty="0"/>
              <a:t>Profit</a:t>
            </a:r>
            <a:br>
              <a:rPr lang="en-US" sz="1867" dirty="0"/>
            </a:br>
            <a:r>
              <a:rPr lang="en-US" sz="1867" dirty="0"/>
              <a:t>= (Price − Cost) × Quantity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132CB16-FA41-71F6-7080-D6533911D60B}"/>
              </a:ext>
            </a:extLst>
          </p:cNvPr>
          <p:cNvSpPr txBox="1">
            <a:spLocks/>
          </p:cNvSpPr>
          <p:nvPr/>
        </p:nvSpPr>
        <p:spPr>
          <a:xfrm>
            <a:off x="8686799" y="1473201"/>
            <a:ext cx="7931151" cy="900568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/>
              <a:t>Need to create calculated columns to calculate these metrics.</a:t>
            </a:r>
            <a:br>
              <a:rPr lang="en-US" sz="1867" b="1" dirty="0"/>
            </a:br>
            <a:r>
              <a:rPr lang="en-US" sz="1867" b="1" dirty="0"/>
              <a:t>Go to Table View, &gt; Sales table &gt; Column tool &gt;  New Column. You need to calculate Revenue and Profit column.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0AF0C21-A71D-B402-F77F-1B3246CFFCD8}"/>
              </a:ext>
            </a:extLst>
          </p:cNvPr>
          <p:cNvSpPr txBox="1">
            <a:spLocks/>
          </p:cNvSpPr>
          <p:nvPr/>
        </p:nvSpPr>
        <p:spPr>
          <a:xfrm>
            <a:off x="755651" y="3832578"/>
            <a:ext cx="6949016" cy="1802481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dirty="0"/>
              <a:t>Firstly, you have to relate the Price column from Product table to Sales table. </a:t>
            </a:r>
          </a:p>
          <a:p>
            <a:pPr marL="0" indent="0">
              <a:buNone/>
            </a:pPr>
            <a:r>
              <a:rPr lang="en-US" sz="1867" b="1" dirty="0"/>
              <a:t>Function:</a:t>
            </a:r>
          </a:p>
          <a:p>
            <a:pPr marL="0" indent="0">
              <a:buNone/>
            </a:pPr>
            <a:r>
              <a:rPr lang="en-US" sz="1867" dirty="0"/>
              <a:t>RELATED(</a:t>
            </a:r>
            <a:r>
              <a:rPr lang="en-US" sz="1867" dirty="0" err="1"/>
              <a:t>ColumnName</a:t>
            </a:r>
            <a:r>
              <a:rPr lang="en-US" sz="1867" dirty="0"/>
              <a:t>)</a:t>
            </a:r>
          </a:p>
          <a:p>
            <a:pPr marL="0" indent="0">
              <a:buNone/>
            </a:pPr>
            <a:r>
              <a:rPr lang="en-US" sz="1867" dirty="0"/>
              <a:t>Returns a related value from another table.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7045A1-C999-FE0E-C233-27431806AC28}"/>
              </a:ext>
            </a:extLst>
          </p:cNvPr>
          <p:cNvSpPr txBox="1"/>
          <p:nvPr/>
        </p:nvSpPr>
        <p:spPr>
          <a:xfrm>
            <a:off x="845961" y="5885743"/>
            <a:ext cx="7079527" cy="5539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Price =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RELATED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'Product Lookup'[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ProductPrice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EF35A-BB4D-E336-76F5-244A2EF05211}"/>
              </a:ext>
            </a:extLst>
          </p:cNvPr>
          <p:cNvSpPr txBox="1"/>
          <p:nvPr/>
        </p:nvSpPr>
        <p:spPr>
          <a:xfrm>
            <a:off x="845961" y="6610340"/>
            <a:ext cx="7079527" cy="5539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Cost =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RELATED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'Product Lookup'[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ProductCost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073261-8B09-60D8-0912-2329E93340B1}"/>
              </a:ext>
            </a:extLst>
          </p:cNvPr>
          <p:cNvSpPr txBox="1"/>
          <p:nvPr/>
        </p:nvSpPr>
        <p:spPr>
          <a:xfrm>
            <a:off x="8686799" y="2577820"/>
            <a:ext cx="7079527" cy="5539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Revenue =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'Sales Data 2022'[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OrderQuantity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'Sales Data 2022'[Price]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824A40-8647-467D-1050-A8388C0B3C94}"/>
              </a:ext>
            </a:extLst>
          </p:cNvPr>
          <p:cNvSpPr txBox="1"/>
          <p:nvPr/>
        </p:nvSpPr>
        <p:spPr>
          <a:xfrm>
            <a:off x="8686798" y="3626533"/>
            <a:ext cx="7079527" cy="7848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Profit =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'Sales Data 2022'[Price]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-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'Sales Data 2022'[Cost]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) *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'Sales Data 2022'[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OrderQuantity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]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144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6401B-549D-E189-6446-EE15E4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F64095-D204-2908-C155-C6CC7F142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Calculate Needed Measures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CF4CA-A870-73DA-0BF7-D77E09C5F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473201"/>
            <a:ext cx="6949016" cy="352597"/>
          </a:xfr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67" dirty="0"/>
              <a:t>In table tools &gt; New Table &gt; Name </a:t>
            </a:r>
            <a:r>
              <a:rPr lang="en-US" sz="1867" dirty="0" err="1"/>
              <a:t>WorkingMeasure</a:t>
            </a:r>
            <a:r>
              <a:rPr lang="en-US" sz="1867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D1263-D8EA-4A76-1F9A-449A07038080}"/>
              </a:ext>
            </a:extLst>
          </p:cNvPr>
          <p:cNvSpPr txBox="1"/>
          <p:nvPr/>
        </p:nvSpPr>
        <p:spPr>
          <a:xfrm>
            <a:off x="845958" y="1994851"/>
            <a:ext cx="7079527" cy="3231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WorkingMeasure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=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BE3505-09D0-9A44-B052-80E876B54E2C}"/>
              </a:ext>
            </a:extLst>
          </p:cNvPr>
          <p:cNvSpPr txBox="1"/>
          <p:nvPr/>
        </p:nvSpPr>
        <p:spPr>
          <a:xfrm>
            <a:off x="845958" y="3431394"/>
            <a:ext cx="7079527" cy="5539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1. Unit Sold =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SUM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(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'Sales Data 2022'[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OrderQuantity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)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CFC17A6-A199-9386-1BC1-FCFFB6228911}"/>
              </a:ext>
            </a:extLst>
          </p:cNvPr>
          <p:cNvSpPr txBox="1">
            <a:spLocks/>
          </p:cNvSpPr>
          <p:nvPr/>
        </p:nvSpPr>
        <p:spPr>
          <a:xfrm>
            <a:off x="755650" y="2876579"/>
            <a:ext cx="6949016" cy="383375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dirty="0"/>
              <a:t>Select new measure to create needed measures.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B199A3-5A2B-F30F-34EF-B1F3CE6A0EAB}"/>
              </a:ext>
            </a:extLst>
          </p:cNvPr>
          <p:cNvSpPr txBox="1"/>
          <p:nvPr/>
        </p:nvSpPr>
        <p:spPr>
          <a:xfrm>
            <a:off x="845958" y="4413538"/>
            <a:ext cx="7079527" cy="5539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2. Revenue =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SUM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'Sales Data 2022'[Revenue]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21B946-E21B-9660-00A2-F7F1B92C89E7}"/>
              </a:ext>
            </a:extLst>
          </p:cNvPr>
          <p:cNvSpPr txBox="1"/>
          <p:nvPr/>
        </p:nvSpPr>
        <p:spPr>
          <a:xfrm>
            <a:off x="845958" y="5395682"/>
            <a:ext cx="7079527" cy="5539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3. Profit =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SUM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'Sales Data 2022'[Profit]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53339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72492-2A7B-793B-5BBC-F2A39070B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9FEB8A-9E64-C598-BE6C-9C07F9209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Build KPI Card (1)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BB8BD-DBC4-84F8-F035-96CC2DF30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473201"/>
            <a:ext cx="3277056" cy="352597"/>
          </a:xfr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67" dirty="0"/>
              <a:t>Use Card (New)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9D5B0F-4E87-3F20-C51E-393886CCA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2085154"/>
            <a:ext cx="3277057" cy="5169621"/>
          </a:xfrm>
          <a:prstGeom prst="rect">
            <a:avLst/>
          </a:prstGeom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1E8F469-2C48-9781-F677-C703BC546722}"/>
              </a:ext>
            </a:extLst>
          </p:cNvPr>
          <p:cNvSpPr txBox="1">
            <a:spLocks/>
          </p:cNvSpPr>
          <p:nvPr/>
        </p:nvSpPr>
        <p:spPr>
          <a:xfrm>
            <a:off x="4345517" y="1473199"/>
            <a:ext cx="3277056" cy="641971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dirty="0"/>
              <a:t>Build Unit Sold Card &gt; All measures into Value field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CA81C21-2A42-314C-1670-914DBD2640F3}"/>
              </a:ext>
            </a:extLst>
          </p:cNvPr>
          <p:cNvSpPr txBox="1">
            <a:spLocks/>
          </p:cNvSpPr>
          <p:nvPr/>
        </p:nvSpPr>
        <p:spPr>
          <a:xfrm>
            <a:off x="7986191" y="1443269"/>
            <a:ext cx="3277056" cy="383375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dirty="0"/>
              <a:t>Output may look like this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336ABCB-B772-0A68-3C56-58ED5F900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519" y="2115085"/>
            <a:ext cx="2926336" cy="171184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EDCE080-C2FD-C447-4544-B7BA54BB7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6191" y="2025290"/>
            <a:ext cx="2259652" cy="427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003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29929-5BC7-4DE9-617D-76B1CC9E8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134A50-7C1D-711D-1C3F-82EB90025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Build KPI Card (2)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9AEB2-4EA8-EAA7-2911-CFB17662B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473201"/>
            <a:ext cx="6949016" cy="869790"/>
          </a:xfrm>
          <a:noFill/>
        </p:spPr>
        <p:txBody>
          <a:bodyPr wrap="square">
            <a:spAutoFit/>
          </a:bodyPr>
          <a:lstStyle/>
          <a:p>
            <a:r>
              <a:rPr lang="en-US" sz="1867" b="1" dirty="0"/>
              <a:t>Besides the total of a metric, you also want to know its YoY fluctuations. Create the flowing measures to calculate the YoY change.  Then change data format to percentage.</a:t>
            </a:r>
            <a:endParaRPr lang="en-US" sz="1867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6FC505-EA8A-6024-F0B0-1E21DB1057DA}"/>
              </a:ext>
            </a:extLst>
          </p:cNvPr>
          <p:cNvSpPr txBox="1"/>
          <p:nvPr/>
        </p:nvSpPr>
        <p:spPr>
          <a:xfrm>
            <a:off x="755650" y="2878758"/>
            <a:ext cx="7079527" cy="297280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1.1 Unit Sold YoY %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Define current year total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VAR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Current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1. Unit Sold]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Define previous year total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_Pr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vious =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CALCU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LATE(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[1. Un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it Sold],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Set a condition that calculate the previous year total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DATEADD(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'Calend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 Lookup'[Date], -1, YE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AR)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 )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IDE(_C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rent -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_Previou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s, </a:t>
            </a:r>
            <a:r>
              <a:rPr lang="en-US" sz="16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_Previous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739BD6-EFF3-0C50-18DA-59787891D0D4}"/>
              </a:ext>
            </a:extLst>
          </p:cNvPr>
          <p:cNvSpPr txBox="1"/>
          <p:nvPr/>
        </p:nvSpPr>
        <p:spPr>
          <a:xfrm>
            <a:off x="8686798" y="1494374"/>
            <a:ext cx="7079527" cy="26137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2.1 Revenue YoY %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Define current year total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_Current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[2. Revenue]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Define previous year total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_Previous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[2. Revenue]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Set a condition that calculate the previous year total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DATEADD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'Calendar Lookup'[Date]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_Current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_Previous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_Previous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D6FF9B-F493-EA76-A321-91FF6C00CFAB}"/>
              </a:ext>
            </a:extLst>
          </p:cNvPr>
          <p:cNvSpPr txBox="1"/>
          <p:nvPr/>
        </p:nvSpPr>
        <p:spPr>
          <a:xfrm>
            <a:off x="8686798" y="4975058"/>
            <a:ext cx="7079527" cy="26137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3.1. Profit YoY %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Define current year total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_Current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[3. Profit]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Define previous year total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_Previous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[3. Profit]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Set a condition that calculate the previous year total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DATEADD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'Calendar Lookup'[Date]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_Current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_Previous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_Previous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15440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7C140-BF7A-05E9-A2AE-E2A77AF75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8DD3C9-4CE0-A220-ED91-C2D5E72A8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Build KPI Card (3)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84FCDE-9F2A-2DE8-E3FB-5B78997B1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473200"/>
            <a:ext cx="6949016" cy="869790"/>
          </a:xfrm>
          <a:noFill/>
        </p:spPr>
        <p:txBody>
          <a:bodyPr wrap="square">
            <a:spAutoFit/>
          </a:bodyPr>
          <a:lstStyle/>
          <a:p>
            <a:r>
              <a:rPr lang="en-US" sz="1867" b="1" dirty="0"/>
              <a:t>Open format pane of the card, go to Reference Label, drop the YoY measure to each card. Then select the current YoY measure</a:t>
            </a:r>
            <a:endParaRPr lang="en-US" sz="1867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A03BDB-652B-71BC-2959-9966BCEC1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529" y="2907528"/>
            <a:ext cx="1614372" cy="55820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F6ECE9-2352-CB80-B20B-6E71ACB62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926" y="2907529"/>
            <a:ext cx="3213548" cy="49028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3739A7-0CAC-5A2D-0344-FE03CAC86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6481" y="2907528"/>
            <a:ext cx="5832194" cy="280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16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1ABD3-F592-B805-74B6-A4BF6D44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40897E-4E8C-354B-69AA-7C0406125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Build KPI Card (3)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D5C12-3A06-F8C1-B6FE-DEC2BA9AC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473201"/>
            <a:ext cx="6949016" cy="869790"/>
          </a:xfrm>
          <a:noFill/>
        </p:spPr>
        <p:txBody>
          <a:bodyPr wrap="square">
            <a:spAutoFit/>
          </a:bodyPr>
          <a:lstStyle/>
          <a:p>
            <a:r>
              <a:rPr lang="en-US" sz="1867" b="1" dirty="0"/>
              <a:t>Besides the total of a metric, you also want to know its MoM fluctuations. Create the flowing measures to calculate the MoM change.  Then change data format to percentage. </a:t>
            </a:r>
            <a:endParaRPr lang="en-US" sz="1867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AEEF27-E539-08B8-2203-7D6D2549C83A}"/>
              </a:ext>
            </a:extLst>
          </p:cNvPr>
          <p:cNvSpPr txBox="1"/>
          <p:nvPr/>
        </p:nvSpPr>
        <p:spPr>
          <a:xfrm>
            <a:off x="755650" y="2878758"/>
            <a:ext cx="7079527" cy="31523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1.2 Unit Sold MoM %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Define current month total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CurrentMonth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[1. Unit Sold]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Define previous month total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PreviousMonth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[1. Unit Sold]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Set a condition that calculate the previous month total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DATEADD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'Calendar Lookup'[Date]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CurrentMonth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PreviousMonth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PreviousMonth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D5260B-18B7-8714-5B45-2D6170FC67C0}"/>
              </a:ext>
            </a:extLst>
          </p:cNvPr>
          <p:cNvSpPr txBox="1"/>
          <p:nvPr/>
        </p:nvSpPr>
        <p:spPr>
          <a:xfrm>
            <a:off x="8686798" y="1494374"/>
            <a:ext cx="7079527" cy="2254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2.2 Revenue MoM %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CurrentMonth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[2. Revenue]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PreviousMonth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[2. Revenue]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DATEADD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'Calendar Lookup'[Date]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CurrentMonth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PreviousMonth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PreviousMonth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F1B745-A5BB-F711-2C15-07B5B2D91C16}"/>
              </a:ext>
            </a:extLst>
          </p:cNvPr>
          <p:cNvSpPr txBox="1"/>
          <p:nvPr/>
        </p:nvSpPr>
        <p:spPr>
          <a:xfrm>
            <a:off x="8686798" y="4975058"/>
            <a:ext cx="7079527" cy="243419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3.2 Profit MoM %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CurrentMonth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[3. Profit]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PreviousMonth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[3. Profit]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DATEADD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'Calendar Lookup'[Date]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CurrentMonth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PreviousMonth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PreviousMonth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134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30BCB-9364-044D-21A8-9444DDD84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5C8DB1-9600-831E-F0D4-83B8ADFD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Build KPI Card (3)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D5F82-F090-C85E-ABD6-CA68E4698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473200"/>
            <a:ext cx="6949016" cy="869790"/>
          </a:xfrm>
          <a:noFill/>
        </p:spPr>
        <p:txBody>
          <a:bodyPr wrap="square">
            <a:spAutoFit/>
          </a:bodyPr>
          <a:lstStyle/>
          <a:p>
            <a:r>
              <a:rPr lang="en-US" sz="1867" b="1" dirty="0"/>
              <a:t>You want the user to know the growth over years, so a column  chart of each metric by year is placed beside the </a:t>
            </a:r>
            <a:r>
              <a:rPr lang="en-US" sz="1867" b="1" dirty="0" err="1"/>
              <a:t>kpi</a:t>
            </a:r>
            <a:r>
              <a:rPr lang="en-US" sz="1867" b="1" dirty="0"/>
              <a:t> card. </a:t>
            </a:r>
            <a:endParaRPr lang="en-US" sz="1867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6C306CF-66BA-388A-75DA-EAAD9BFD2C1B}"/>
              </a:ext>
            </a:extLst>
          </p:cNvPr>
          <p:cNvSpPr txBox="1">
            <a:spLocks/>
          </p:cNvSpPr>
          <p:nvPr/>
        </p:nvSpPr>
        <p:spPr>
          <a:xfrm>
            <a:off x="8215268" y="1473201"/>
            <a:ext cx="6949016" cy="383375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 dirty="0"/>
              <a:t>Output may look like this. </a:t>
            </a:r>
            <a:endParaRPr lang="en-US" sz="1867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995153-8CCD-E5BC-22F3-8FC1D40A6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631" y="2571590"/>
            <a:ext cx="1781798" cy="62362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D6A1F8-3593-9964-E313-010E3C794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880" y="2571590"/>
            <a:ext cx="13205379" cy="102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38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3DA1A-B813-3F8F-14FE-FE0361468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B86952-C737-EFCB-CF3B-87133881E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Build Column Chart Showing Trend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6872F-033A-D4D8-2CEC-CA6749278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473201"/>
            <a:ext cx="7931149" cy="1295098"/>
          </a:xfr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67" dirty="0"/>
              <a:t>You want to view the trend and also the magnitude of differences between month. Therefore, column chart is the best graph for this use case.  </a:t>
            </a:r>
          </a:p>
          <a:p>
            <a:pPr marL="0" indent="0">
              <a:buNone/>
            </a:pPr>
            <a:r>
              <a:rPr lang="en-US" sz="1867" dirty="0"/>
              <a:t>Drop EOM (number) into X-axis and 1. Unit Sold into Y-axis. Apply the same steps to other metrics. The final output should look like this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625508-BE5D-A3AB-0048-B611B78D7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73" y="3031738"/>
            <a:ext cx="1682751" cy="58766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55BD84-7576-3F3C-3756-3AD59FBE5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825" y="3190746"/>
            <a:ext cx="13613125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5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E8FC-6222-14D5-E6A1-83831064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C943E2-BCBF-88D0-D72E-740460971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Build Comparison Bar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8D015-61EA-07F7-4E8F-12E5A8EC2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473201"/>
            <a:ext cx="7931149" cy="1128386"/>
          </a:xfr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67" dirty="0"/>
              <a:t>You want to compare the metrics across different regions, countries, products. Bar chart is the best for this use case. Use Continent is Territory Lookup table for Y-axis and Unit Sold for X-axis. Do the same steps for other metrics and the output should look like this.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5703D9-C5BE-F876-2A8D-152F23B43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70" y="2739453"/>
            <a:ext cx="1796831" cy="63029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97CF0A-F969-4D82-7D8B-3157CF99A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764" y="2830188"/>
            <a:ext cx="13193966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79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FBDF9-444A-08D7-6576-4AD50D4EB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FC3C72-7418-D64B-01CC-B021FCBD2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Build Filter Pane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15B3E-C74D-A292-3A1E-1983C0704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473200"/>
            <a:ext cx="7931149" cy="869790"/>
          </a:xfr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67" dirty="0"/>
              <a:t>Create slicer to filter the data. This is report, you allow users to select year, month, continent, region and product category. Your output may look like this. 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7900F9-AF12-C07B-A3F3-FE895F9DF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25" y="2418213"/>
            <a:ext cx="2620876" cy="6002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C730D7-CD4F-0B96-D379-5EE2F9A5E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023" y="2418213"/>
            <a:ext cx="11824675" cy="9029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E255442-CFEE-E18F-0A05-DCA4247AF613}"/>
              </a:ext>
            </a:extLst>
          </p:cNvPr>
          <p:cNvSpPr txBox="1">
            <a:spLocks/>
          </p:cNvSpPr>
          <p:nvPr/>
        </p:nvSpPr>
        <p:spPr>
          <a:xfrm>
            <a:off x="3958023" y="3671583"/>
            <a:ext cx="7931149" cy="641971"/>
          </a:xfrm>
          <a:prstGeom prst="rect">
            <a:avLst/>
          </a:prstGeom>
          <a:noFill/>
        </p:spPr>
        <p:txBody>
          <a:bodyPr vert="horz" wrap="square" lIns="121920" tIns="60960" rIns="121920" bIns="6096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dirty="0"/>
              <a:t>Ctrl + Click to each slicer to select all of them, go to format pane &gt; slicer setting &gt; style &gt; drop down. The output should look like this.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17E87B-2557-DF7D-546F-5DD6AB6233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8023" y="4644325"/>
            <a:ext cx="11865064" cy="72425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11511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1FEEA-F54C-7E17-C645-6209AFF7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D41412-6518-5C0D-C1FF-2E8D69296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First Draft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7FC4CF-B59E-12F4-13D3-72664D84D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53" y="1244600"/>
            <a:ext cx="14108494" cy="745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53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CF09F4-B488-CE29-0557-A4578F186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0F1989-A38B-FBB7-F31F-A4B7E6D9AE42}"/>
              </a:ext>
            </a:extLst>
          </p:cNvPr>
          <p:cNvSpPr/>
          <p:nvPr/>
        </p:nvSpPr>
        <p:spPr>
          <a:xfrm>
            <a:off x="850900" y="-38928"/>
            <a:ext cx="16522700" cy="1536424"/>
          </a:xfrm>
          <a:prstGeom prst="rect">
            <a:avLst/>
          </a:prstGeom>
          <a:solidFill>
            <a:srgbClr val="1127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83C221-8F3A-D2BF-1B9F-36917FF00C24}"/>
              </a:ext>
            </a:extLst>
          </p:cNvPr>
          <p:cNvSpPr/>
          <p:nvPr/>
        </p:nvSpPr>
        <p:spPr>
          <a:xfrm>
            <a:off x="0" y="0"/>
            <a:ext cx="8509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DB780A-38A5-4E8D-EAE2-BC1A79A17667}"/>
              </a:ext>
            </a:extLst>
          </p:cNvPr>
          <p:cNvSpPr/>
          <p:nvPr/>
        </p:nvSpPr>
        <p:spPr>
          <a:xfrm>
            <a:off x="1126678" y="864152"/>
            <a:ext cx="2385391" cy="9525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81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BAE81A-955C-4A48-BEDC-310D18F4BEF5}"/>
              </a:ext>
            </a:extLst>
          </p:cNvPr>
          <p:cNvSpPr/>
          <p:nvPr/>
        </p:nvSpPr>
        <p:spPr>
          <a:xfrm>
            <a:off x="6569074" y="864152"/>
            <a:ext cx="3259667" cy="9525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81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0716154-0891-BB7F-954A-4969222AA94F}"/>
              </a:ext>
            </a:extLst>
          </p:cNvPr>
          <p:cNvSpPr/>
          <p:nvPr/>
        </p:nvSpPr>
        <p:spPr>
          <a:xfrm>
            <a:off x="10179578" y="864152"/>
            <a:ext cx="3259667" cy="9525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81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5E471D-6552-DE55-97C6-5A13562E5040}"/>
              </a:ext>
            </a:extLst>
          </p:cNvPr>
          <p:cNvSpPr/>
          <p:nvPr/>
        </p:nvSpPr>
        <p:spPr>
          <a:xfrm>
            <a:off x="13790083" y="864152"/>
            <a:ext cx="3259667" cy="9525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81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EB99AA5-83DB-76C4-AB46-9BDE498F0056}"/>
              </a:ext>
            </a:extLst>
          </p:cNvPr>
          <p:cNvSpPr/>
          <p:nvPr/>
        </p:nvSpPr>
        <p:spPr>
          <a:xfrm>
            <a:off x="3859833" y="864152"/>
            <a:ext cx="2385391" cy="9525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81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1269CAB-9C1E-D3E4-52F6-6950CF4468DD}"/>
              </a:ext>
            </a:extLst>
          </p:cNvPr>
          <p:cNvSpPr/>
          <p:nvPr/>
        </p:nvSpPr>
        <p:spPr>
          <a:xfrm>
            <a:off x="1155700" y="2057400"/>
            <a:ext cx="5073120" cy="6908800"/>
          </a:xfrm>
          <a:prstGeom prst="roundRect">
            <a:avLst>
              <a:gd name="adj" fmla="val 3065"/>
            </a:avLst>
          </a:prstGeom>
          <a:solidFill>
            <a:schemeClr val="bg1"/>
          </a:solidFill>
          <a:ln>
            <a:noFill/>
          </a:ln>
          <a:effectLst>
            <a:outerShdw blurRad="381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56FC0F-B990-1DB9-E95D-114BAD86E964}"/>
              </a:ext>
            </a:extLst>
          </p:cNvPr>
          <p:cNvSpPr/>
          <p:nvPr/>
        </p:nvSpPr>
        <p:spPr>
          <a:xfrm>
            <a:off x="6566165" y="2038353"/>
            <a:ext cx="5073120" cy="6908800"/>
          </a:xfrm>
          <a:prstGeom prst="roundRect">
            <a:avLst>
              <a:gd name="adj" fmla="val 3065"/>
            </a:avLst>
          </a:prstGeom>
          <a:solidFill>
            <a:schemeClr val="bg1"/>
          </a:solidFill>
          <a:ln>
            <a:noFill/>
          </a:ln>
          <a:effectLst>
            <a:outerShdw blurRad="381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#112755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08068A-CAA1-DB18-CF57-0A344D94D1FF}"/>
              </a:ext>
            </a:extLst>
          </p:cNvPr>
          <p:cNvSpPr/>
          <p:nvPr/>
        </p:nvSpPr>
        <p:spPr>
          <a:xfrm>
            <a:off x="11976630" y="2038353"/>
            <a:ext cx="5073120" cy="6908800"/>
          </a:xfrm>
          <a:prstGeom prst="roundRect">
            <a:avLst>
              <a:gd name="adj" fmla="val 3065"/>
            </a:avLst>
          </a:prstGeom>
          <a:solidFill>
            <a:schemeClr val="bg1"/>
          </a:solidFill>
          <a:ln>
            <a:noFill/>
          </a:ln>
          <a:effectLst>
            <a:outerShdw blurRad="381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A721B5-56AB-BA96-30A1-E9B2D63095D6}"/>
              </a:ext>
            </a:extLst>
          </p:cNvPr>
          <p:cNvCxnSpPr>
            <a:cxnSpLocks/>
          </p:cNvCxnSpPr>
          <p:nvPr/>
        </p:nvCxnSpPr>
        <p:spPr>
          <a:xfrm>
            <a:off x="1387210" y="3841750"/>
            <a:ext cx="4610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5010CBF-3A3F-CFA6-A72E-F6FC7FE3E62B}"/>
              </a:ext>
            </a:extLst>
          </p:cNvPr>
          <p:cNvCxnSpPr>
            <a:cxnSpLocks/>
          </p:cNvCxnSpPr>
          <p:nvPr/>
        </p:nvCxnSpPr>
        <p:spPr>
          <a:xfrm>
            <a:off x="1387210" y="6305550"/>
            <a:ext cx="4610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4907760-0627-7255-534E-3EC1521B3F52}"/>
              </a:ext>
            </a:extLst>
          </p:cNvPr>
          <p:cNvCxnSpPr>
            <a:cxnSpLocks/>
          </p:cNvCxnSpPr>
          <p:nvPr/>
        </p:nvCxnSpPr>
        <p:spPr>
          <a:xfrm>
            <a:off x="6797675" y="3841750"/>
            <a:ext cx="4610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048A70-0EDB-7F82-F1FE-8D31B983A46C}"/>
              </a:ext>
            </a:extLst>
          </p:cNvPr>
          <p:cNvCxnSpPr>
            <a:cxnSpLocks/>
          </p:cNvCxnSpPr>
          <p:nvPr/>
        </p:nvCxnSpPr>
        <p:spPr>
          <a:xfrm>
            <a:off x="12208140" y="3841750"/>
            <a:ext cx="4610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E5A3E8C-60C2-2486-6EF4-9CD0FE756A70}"/>
              </a:ext>
            </a:extLst>
          </p:cNvPr>
          <p:cNvCxnSpPr>
            <a:cxnSpLocks/>
          </p:cNvCxnSpPr>
          <p:nvPr/>
        </p:nvCxnSpPr>
        <p:spPr>
          <a:xfrm>
            <a:off x="12208140" y="6305550"/>
            <a:ext cx="4610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21E64DA-759C-C7EB-7EA4-47E1B9D6E065}"/>
              </a:ext>
            </a:extLst>
          </p:cNvPr>
          <p:cNvCxnSpPr>
            <a:cxnSpLocks/>
          </p:cNvCxnSpPr>
          <p:nvPr/>
        </p:nvCxnSpPr>
        <p:spPr>
          <a:xfrm>
            <a:off x="6797675" y="6305550"/>
            <a:ext cx="4610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BFACF40-0130-943B-A6A5-C2DAD5211FB1}"/>
              </a:ext>
            </a:extLst>
          </p:cNvPr>
          <p:cNvSpPr>
            <a:spLocks/>
          </p:cNvSpPr>
          <p:nvPr/>
        </p:nvSpPr>
        <p:spPr>
          <a:xfrm>
            <a:off x="1155700" y="2038353"/>
            <a:ext cx="5073120" cy="749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/>
            <a:r>
              <a:rPr lang="en-US" sz="2200" b="1" dirty="0">
                <a:solidFill>
                  <a:schemeClr val="tx1"/>
                </a:solidFill>
                <a:latin typeface="Segoe UI Variable Small Semibol" pitchFamily="2" charset="0"/>
                <a:ea typeface="Segoe UI Black" panose="020B0A02040204020203" pitchFamily="34" charset="0"/>
              </a:rPr>
              <a:t>Unit Sold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22E8DD-9C6B-6C85-8D3A-01AD1EFE00DF}"/>
              </a:ext>
            </a:extLst>
          </p:cNvPr>
          <p:cNvSpPr>
            <a:spLocks/>
          </p:cNvSpPr>
          <p:nvPr/>
        </p:nvSpPr>
        <p:spPr>
          <a:xfrm>
            <a:off x="6533620" y="2038353"/>
            <a:ext cx="5073120" cy="749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/>
            <a:r>
              <a:rPr lang="en-US" sz="2200" b="1" dirty="0">
                <a:solidFill>
                  <a:schemeClr val="tx1"/>
                </a:solidFill>
                <a:latin typeface="Segoe UI Variable Small Semibol" pitchFamily="2" charset="0"/>
                <a:ea typeface="Segoe UI Black" panose="020B0A02040204020203" pitchFamily="34" charset="0"/>
              </a:rPr>
              <a:t>Revenue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A27B38-0312-913D-3380-E390F7352504}"/>
              </a:ext>
            </a:extLst>
          </p:cNvPr>
          <p:cNvSpPr>
            <a:spLocks/>
          </p:cNvSpPr>
          <p:nvPr/>
        </p:nvSpPr>
        <p:spPr>
          <a:xfrm>
            <a:off x="11976630" y="2038353"/>
            <a:ext cx="5073120" cy="749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/>
            <a:r>
              <a:rPr lang="en-US" sz="2200" b="1" dirty="0">
                <a:solidFill>
                  <a:schemeClr val="tx1"/>
                </a:solidFill>
                <a:latin typeface="Segoe UI Variable Small Semibol" pitchFamily="2" charset="0"/>
                <a:ea typeface="Segoe UI Black" panose="020B0A02040204020203" pitchFamily="34" charset="0"/>
              </a:rPr>
              <a:t>Profit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F9AEB1-4AC1-89A1-593D-506C800AF06B}"/>
              </a:ext>
            </a:extLst>
          </p:cNvPr>
          <p:cNvSpPr>
            <a:spLocks/>
          </p:cNvSpPr>
          <p:nvPr/>
        </p:nvSpPr>
        <p:spPr>
          <a:xfrm>
            <a:off x="1155700" y="101600"/>
            <a:ext cx="15894050" cy="749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chemeClr val="bg1"/>
                </a:solidFill>
                <a:latin typeface="Segoe UI Variable Display Semib" pitchFamily="2" charset="0"/>
                <a:ea typeface="Segoe UI Black" panose="020B0A02040204020203" pitchFamily="34" charset="0"/>
                <a:cs typeface="Segoe UI Semibold" panose="020B0702040204020203" pitchFamily="34" charset="0"/>
              </a:rPr>
              <a:t>Overview Dashboard</a:t>
            </a:r>
          </a:p>
        </p:txBody>
      </p:sp>
    </p:spTree>
    <p:extLst>
      <p:ext uri="{BB962C8B-B14F-4D97-AF65-F5344CB8AC3E}">
        <p14:creationId xmlns:p14="http://schemas.microsoft.com/office/powerpoint/2010/main" val="2608192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19A04-B4FB-BA37-B2A0-320027A2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F730CC-00C5-E18B-3B9E-7FC2C72F6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Format the KPI Cards (1)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70E2B-9AF4-6A3F-5EC6-93341D993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473200"/>
            <a:ext cx="7931149" cy="2938561"/>
          </a:xfr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67" dirty="0"/>
              <a:t>Select all cards &gt; Format pane &gt; Callout &gt; Change all settings to All &gt; Turn off label</a:t>
            </a:r>
            <a:br>
              <a:rPr lang="en-US" sz="1867" dirty="0"/>
            </a:br>
            <a:br>
              <a:rPr lang="en-US" sz="1867" dirty="0"/>
            </a:br>
            <a:r>
              <a:rPr lang="en-US" sz="1867" dirty="0"/>
              <a:t>Select all cards &gt; Format pane &gt; Reference Label &gt; Apply setting to All &gt; Turn off background &gt; Divider &gt; Change to White Color</a:t>
            </a:r>
            <a:br>
              <a:rPr lang="en-US" sz="1867" dirty="0"/>
            </a:br>
            <a:br>
              <a:rPr lang="en-US" sz="1867" dirty="0"/>
            </a:br>
            <a:r>
              <a:rPr lang="en-US" sz="1867" dirty="0"/>
              <a:t>Select each card &gt; Callout &gt; Apply setting to primary metric &gt; Display Units &gt; Select None</a:t>
            </a:r>
            <a:br>
              <a:rPr lang="en-US" sz="1867" dirty="0"/>
            </a:br>
            <a:br>
              <a:rPr lang="en-US" sz="1867" dirty="0"/>
            </a:br>
            <a:r>
              <a:rPr lang="en-US" sz="1867" dirty="0"/>
              <a:t>Select each card &gt; Properties &gt; Apply setting to primary metric &gt; Whole Number in Format Pane &gt; Turn on Thousand Separator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6866F73-F471-8CE3-FF67-BCC41ECED6FD}"/>
              </a:ext>
            </a:extLst>
          </p:cNvPr>
          <p:cNvSpPr txBox="1">
            <a:spLocks/>
          </p:cNvSpPr>
          <p:nvPr/>
        </p:nvSpPr>
        <p:spPr>
          <a:xfrm>
            <a:off x="755650" y="4732240"/>
            <a:ext cx="7931149" cy="86979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67" dirty="0"/>
              <a:t>Select the YoY measure  in the Data tab on the right hand side &gt; Format  &gt; Dynamic &gt; Paste  this in to the box "0.00% ▲;-0.00% ▼;0.00% ▲“. Repeat with other measure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80858-3313-33CF-52A9-A04A37D42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334" y="1244600"/>
            <a:ext cx="539556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032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52AB0-5359-2675-3B88-3506B1537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3D0851-E19C-B532-306B-D912DF96F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Format Column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4B9EBE-F44C-D09B-F00B-78A240A67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4727912"/>
            <a:ext cx="6826249" cy="869790"/>
          </a:xfr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67" dirty="0"/>
              <a:t>The column chart is decent but now we want the use to spot the MOM change immediately. We will build some measure to achieve this desire.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A25103-F88D-8FC7-CB04-BD0979138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54" y="1358899"/>
            <a:ext cx="6890313" cy="30571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4F801B-FEE8-B1BB-632F-89F6BFC83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186" y="1544520"/>
            <a:ext cx="6800512" cy="277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254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688FD-EB2B-6EB4-F1E2-F01849945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855EC1-EA0F-9337-0EDD-ECFB83DCF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Format Column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14FDA-B155-27C0-CB31-696B257DC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288" y="1244600"/>
            <a:ext cx="6826249" cy="4973221"/>
          </a:xfr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1867" dirty="0"/>
          </a:p>
          <a:p>
            <a:pPr marL="457200" indent="-457200">
              <a:buAutoNum type="arabicPeriod"/>
            </a:pPr>
            <a:r>
              <a:rPr lang="en-US" sz="1867" dirty="0"/>
              <a:t>Create a measure to make the MoM float above the column. Copy the measure below. </a:t>
            </a:r>
          </a:p>
          <a:p>
            <a:pPr marL="457200" indent="-457200">
              <a:buAutoNum type="arabicPeriod"/>
            </a:pPr>
            <a:r>
              <a:rPr lang="en-US" sz="1867" dirty="0"/>
              <a:t>Change the current column chart to Cluster column chart and drop the new measure to the visual. Do not remove current measure. (Figure 1)</a:t>
            </a:r>
          </a:p>
          <a:p>
            <a:pPr marL="457200" indent="-457200">
              <a:buAutoNum type="arabicPeriod"/>
            </a:pPr>
            <a:r>
              <a:rPr lang="en-US" sz="1867" dirty="0"/>
              <a:t>Format  pane  &gt; Column &gt; Layout &gt; Try to have this format&gt; (Fig 2)  &gt;Outlook like this (Fig 3)</a:t>
            </a:r>
          </a:p>
          <a:p>
            <a:pPr marL="457200" indent="-457200">
              <a:buAutoNum type="arabicPeriod"/>
            </a:pPr>
            <a:r>
              <a:rPr lang="en-US" sz="1867" dirty="0"/>
              <a:t>Column &gt; Select the format measure &gt; Change color to white to make the format measure transparent</a:t>
            </a:r>
          </a:p>
          <a:p>
            <a:pPr marL="457200" indent="-457200">
              <a:buAutoNum type="arabicPeriod"/>
            </a:pPr>
            <a:r>
              <a:rPr lang="en-US" sz="1867" dirty="0"/>
              <a:t>Date label &gt; Unit Sold &gt; Turn on Value &gt; Formatting measure &gt; Turn off Value  &gt; Turn on Detail &gt; Add  Unit Sold MoM to Detail &gt; Do some formatting to adjust size (Fig 4)</a:t>
            </a:r>
          </a:p>
          <a:p>
            <a:pPr marL="457200" indent="-457200">
              <a:buAutoNum type="arabicPeriod"/>
            </a:pPr>
            <a:r>
              <a:rPr lang="en-US" sz="1867" dirty="0"/>
              <a:t>Create  formatting  measure for Revenue and Profit and repeat all above steps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D5231-8934-24F7-23BB-8942BCA479BD}"/>
              </a:ext>
            </a:extLst>
          </p:cNvPr>
          <p:cNvSpPr txBox="1"/>
          <p:nvPr/>
        </p:nvSpPr>
        <p:spPr>
          <a:xfrm>
            <a:off x="755650" y="6536723"/>
            <a:ext cx="7079527" cy="15365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1.4. Upper Bound Time Series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_Max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MAXX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ALLSELECTED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'Calendar Lookup'[EOM (number)]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),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[1. Unit Sold]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_Max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_Max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DB2F59-5D10-64A8-8BBE-A32461C1B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297" y="1225486"/>
            <a:ext cx="4163006" cy="1810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FEC9E0-D3CC-E549-C701-EA6C5273E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7835" y="1225486"/>
            <a:ext cx="2343477" cy="45059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B86D74-319B-D951-A1E8-F00CA23FED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2070" y="3293941"/>
            <a:ext cx="4695252" cy="20654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29733D-D20F-3E64-10BD-7E305A5322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2070" y="5630951"/>
            <a:ext cx="4909122" cy="196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865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8BF2C-3E8E-F519-90ED-6F39E1158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CA040D-4A61-D168-DC76-2D2DEC2F0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Format Comparison Bar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E50CF-0762-DA97-EF41-D9289CF8A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4931112"/>
            <a:ext cx="6826249" cy="611193"/>
          </a:xfr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67" dirty="0"/>
              <a:t>The original bar chart is also decent but it need some formatting to align the data label and signal the MoM change for the users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8999F8-1C47-81FF-12AB-81DCC73DE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76" y="1440958"/>
            <a:ext cx="6396684" cy="24325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53AC2C-F83C-6266-FE4B-5C7A07D8E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823" y="1244600"/>
            <a:ext cx="6306553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00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46738-F225-86D0-5507-2842280C7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193395-C45F-993A-CB51-F7F1F7223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Format Bar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3C78E-C017-1C8A-CEA2-4E58E1B15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288" y="1244600"/>
            <a:ext cx="6826249" cy="5915722"/>
          </a:xfr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1867" dirty="0"/>
          </a:p>
          <a:p>
            <a:pPr marL="457200" indent="-457200">
              <a:buAutoNum type="arabicPeriod"/>
            </a:pPr>
            <a:r>
              <a:rPr lang="en-US" sz="1867" dirty="0"/>
              <a:t>Click “…” button on the visual &gt; Select Visual Calculation &gt; Custom &gt; Paste  the DAX below to create the white space similar to the case of the above column chart. </a:t>
            </a:r>
          </a:p>
          <a:p>
            <a:pPr marL="457200" indent="-457200">
              <a:buAutoNum type="arabicPeriod"/>
            </a:pPr>
            <a:r>
              <a:rPr lang="en-US" sz="1867" dirty="0"/>
              <a:t>Change the current bar chart to Cluster bar chart. Do not remove current measure. (Figure 1)</a:t>
            </a:r>
          </a:p>
          <a:p>
            <a:pPr marL="457200" indent="-457200">
              <a:buAutoNum type="arabicPeriod"/>
            </a:pPr>
            <a:r>
              <a:rPr lang="en-US" sz="1867" dirty="0"/>
              <a:t>Format  pane  &gt; Column &gt; Layout &gt; Try to have this format&gt; (Fig 2)  &gt;Outlook like this (Fig 3)</a:t>
            </a:r>
          </a:p>
          <a:p>
            <a:pPr marL="457200" indent="-457200">
              <a:buAutoNum type="arabicPeriod"/>
            </a:pPr>
            <a:r>
              <a:rPr lang="en-US" sz="1867" dirty="0"/>
              <a:t>Column &gt; Select the Max measure &gt; Change color to white to make the bar transparent</a:t>
            </a:r>
          </a:p>
          <a:p>
            <a:pPr marL="457200" indent="-457200">
              <a:buAutoNum type="arabicPeriod"/>
            </a:pPr>
            <a:r>
              <a:rPr lang="en-US" sz="1867" dirty="0"/>
              <a:t>Date label &gt; Unit Sold &gt; Turn on Value &gt; Max measure &gt; Value &gt; Click the data field  &gt; change to Unit Sold Measure (Fig 4) &gt; Turn on Detail &gt; Add  Unit Sold YoY to Detail  &gt; Change the position of data label from Auto to Outside end </a:t>
            </a:r>
          </a:p>
          <a:p>
            <a:pPr marL="457200" indent="-457200">
              <a:buAutoNum type="arabicPeriod"/>
            </a:pPr>
            <a:r>
              <a:rPr lang="en-US" sz="1867" dirty="0"/>
              <a:t>Formatting measure &gt; Value &gt; Display unit to Custom &gt; “#,## |” to separate the Value and the MoM (Fig 5)</a:t>
            </a:r>
          </a:p>
          <a:p>
            <a:pPr marL="457200" indent="-457200">
              <a:buAutoNum type="arabicPeriod"/>
            </a:pPr>
            <a:r>
              <a:rPr lang="en-US" sz="1867" dirty="0"/>
              <a:t>Create  formatting  measure for Revenue and Profit and repeat all above steps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B5D7BA-D2CB-E983-439C-F384F25D976A}"/>
              </a:ext>
            </a:extLst>
          </p:cNvPr>
          <p:cNvSpPr txBox="1"/>
          <p:nvPr/>
        </p:nvSpPr>
        <p:spPr>
          <a:xfrm>
            <a:off x="755648" y="7619643"/>
            <a:ext cx="7079527" cy="27975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Max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MAXX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[1. Unit Sold]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) *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5E06B9-02DF-BC15-1D49-C5E1C7474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61919"/>
            <a:ext cx="5170219" cy="22320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5FE818-4383-2E85-9063-E365DA665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8422" y="1244600"/>
            <a:ext cx="2362530" cy="41915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AC8CA5-F2E4-203C-9A53-A9D5167A56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0407" y="3513049"/>
            <a:ext cx="4746611" cy="15908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AD8D521-4693-5C08-EC18-5961F22826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809" y="5103946"/>
            <a:ext cx="4222621" cy="18377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3D934E9-F232-4DFB-555F-A1A85C864C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3774" y="7065510"/>
            <a:ext cx="3896269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045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BFA2-D3C5-90BD-6C22-089712F2A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790410-542B-07FA-4288-4E2BB4BB2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Format Bar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8A0E6-4D50-8B85-4A1C-EB4DA31EE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289" y="1244600"/>
            <a:ext cx="5607412" cy="7725898"/>
          </a:xfr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1867" dirty="0"/>
              <a:t>Now you want the users can drill down the bar chart and to different dimensions and can switch between categories such as geography, product types …</a:t>
            </a:r>
          </a:p>
          <a:p>
            <a:pPr marL="457200" indent="-457200">
              <a:buAutoNum type="arabicPeriod"/>
            </a:pPr>
            <a:r>
              <a:rPr lang="en-US" sz="1867" dirty="0"/>
              <a:t>Create visual hierarchy to allow drill down</a:t>
            </a:r>
          </a:p>
          <a:p>
            <a:pPr marL="457200" indent="-457200">
              <a:buAutoNum type="arabicPeriod"/>
            </a:pPr>
            <a:r>
              <a:rPr lang="en-US" sz="1867" dirty="0"/>
              <a:t>Model view&gt; Model Tab &gt;  Territory Lookup &gt; right click Continent &gt; Create hierarchy &gt; Now you see Continent appear in Hierarchies &gt; Click and drop Country then Region to hierarchies section</a:t>
            </a:r>
          </a:p>
          <a:p>
            <a:pPr marL="457200" indent="-457200">
              <a:buAutoNum type="arabicPeriod"/>
            </a:pPr>
            <a:r>
              <a:rPr lang="en-US" sz="1867" dirty="0"/>
              <a:t>Create product hierarchy &gt; Do the same with </a:t>
            </a:r>
            <a:r>
              <a:rPr lang="en-US" sz="1867" dirty="0" err="1"/>
              <a:t>CategoryName</a:t>
            </a:r>
            <a:r>
              <a:rPr lang="en-US" sz="1867" dirty="0"/>
              <a:t>, </a:t>
            </a:r>
            <a:r>
              <a:rPr lang="en-US" sz="1867" dirty="0" err="1"/>
              <a:t>SubcategoryName</a:t>
            </a:r>
            <a:r>
              <a:rPr lang="en-US" sz="1867" dirty="0"/>
              <a:t>, </a:t>
            </a:r>
            <a:r>
              <a:rPr lang="en-US" sz="1867" dirty="0" err="1"/>
              <a:t>ModelName</a:t>
            </a:r>
            <a:r>
              <a:rPr lang="en-US" sz="1867" dirty="0"/>
              <a:t>, ProductName</a:t>
            </a:r>
          </a:p>
          <a:p>
            <a:pPr marL="457200" indent="-457200">
              <a:buAutoNum type="arabicPeriod"/>
            </a:pPr>
            <a:r>
              <a:rPr lang="en-US" sz="1867" dirty="0"/>
              <a:t>Now you want to switch between these 2 </a:t>
            </a:r>
            <a:r>
              <a:rPr lang="en-US" sz="1867" dirty="0" err="1"/>
              <a:t>Cateogry</a:t>
            </a:r>
            <a:r>
              <a:rPr lang="en-US" sz="1867" dirty="0"/>
              <a:t> Hierarchy to explore different dimension but the visual can only show one hierarchy at a time.</a:t>
            </a:r>
          </a:p>
          <a:p>
            <a:pPr marL="457200" indent="-457200">
              <a:buAutoNum type="arabicPeriod"/>
            </a:pPr>
            <a:r>
              <a:rPr lang="en-US" sz="1867" dirty="0"/>
              <a:t>Create parameter to allow you switch between fields. However,  parameter does not allow you to add hierarchy in it, so you have to do some adjustment after creating parameter</a:t>
            </a:r>
          </a:p>
          <a:p>
            <a:pPr marL="457200" indent="-457200">
              <a:buAutoNum type="arabicPeriod"/>
            </a:pPr>
            <a:r>
              <a:rPr lang="en-US" sz="1867" dirty="0"/>
              <a:t>Report View &gt; Modelling &gt; New Parameter  &gt; Fields &gt; Add category one by one follow the order of hierarchy that I introduce above &gt; Create.</a:t>
            </a:r>
          </a:p>
          <a:p>
            <a:pPr marL="457200" indent="-457200">
              <a:buAutoNum type="arabicPeriod"/>
            </a:pPr>
            <a:r>
              <a:rPr lang="en-US" sz="1867" dirty="0"/>
              <a:t>Select the parameter &gt; Fix the DAX copy the one below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1588AA-21DC-5DB7-EC7B-C8B44A51B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888" y="1344430"/>
            <a:ext cx="2735535" cy="60997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4A22F5-B4DF-7F3C-4EEC-00EEA4EAA8F2}"/>
              </a:ext>
            </a:extLst>
          </p:cNvPr>
          <p:cNvSpPr txBox="1"/>
          <p:nvPr/>
        </p:nvSpPr>
        <p:spPr>
          <a:xfrm>
            <a:off x="9725820" y="1317260"/>
            <a:ext cx="7647780" cy="559274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Geography and Product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"Continent"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'Territory Lookup'[Continent]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"Geography"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"Country"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'Territory Lookup'[Country]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"Geography"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"Region"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'Territory Lookup'[Region]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"Geography"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CategoryName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'Product Lookup'[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CategoryName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"Product"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SubcategoryName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'Product Lookup'[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SubcategoryName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"Product"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ModelName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'Product Lookup'[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ModelName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"Product"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"ProductName"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'Product Lookup'[ProductName]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D16989"/>
                </a:solidFill>
                <a:effectLst/>
                <a:latin typeface="Consolas" panose="020B0609020204030204" pitchFamily="49" charset="0"/>
              </a:rPr>
              <a:t>"Product"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74654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54F72-DFB6-0543-6583-5352657DD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82636B-4338-C478-5C55-B0FC88C3A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Format Bar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E4C39-E9A5-CD70-9765-D4BA1F685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289" y="1244600"/>
            <a:ext cx="5607412" cy="3438698"/>
          </a:xfr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1867" dirty="0"/>
              <a:t>Now you will replace the current fields in the visual by the parameter.</a:t>
            </a:r>
          </a:p>
          <a:p>
            <a:pPr marL="457200" indent="-457200">
              <a:buAutoNum type="arabicPeriod"/>
            </a:pPr>
            <a:r>
              <a:rPr lang="en-US" sz="1867" dirty="0"/>
              <a:t>Select visual &gt; Click the “&gt;” button &gt; Select “Geography and Product”, this the parameter field, which must be use in all visual if you want to use the parameter. </a:t>
            </a:r>
          </a:p>
          <a:p>
            <a:pPr marL="457200" indent="-457200">
              <a:buAutoNum type="arabicPeriod"/>
            </a:pPr>
            <a:r>
              <a:rPr lang="en-US" sz="1867" dirty="0"/>
              <a:t>Create a slicer &gt; Drop group in the field and test the interaction with visual, the visual should allow you to drill down. </a:t>
            </a:r>
          </a:p>
          <a:p>
            <a:pPr marL="457200" indent="-457200">
              <a:buAutoNum type="arabicPeriod"/>
            </a:pPr>
            <a:r>
              <a:rPr lang="en-US" sz="1867" dirty="0"/>
              <a:t>Change the filter to drop  down type, single selection</a:t>
            </a:r>
          </a:p>
        </p:txBody>
      </p:sp>
    </p:spTree>
    <p:extLst>
      <p:ext uri="{BB962C8B-B14F-4D97-AF65-F5344CB8AC3E}">
        <p14:creationId xmlns:p14="http://schemas.microsoft.com/office/powerpoint/2010/main" val="2357124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23D91-CC43-C069-00AC-549D17D6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D5A388-919B-4B08-2FEE-64D44E0D4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20133"/>
            <a:ext cx="15862300" cy="1024467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Final 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28AD21-7925-EE6F-49F9-72571275C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332" y="1357016"/>
            <a:ext cx="12319968" cy="726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14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4145</TotalTime>
  <Words>2857</Words>
  <Application>Microsoft Office PowerPoint</Application>
  <PresentationFormat>Custom</PresentationFormat>
  <Paragraphs>311</Paragraphs>
  <Slides>31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Aptos</vt:lpstr>
      <vt:lpstr>Aptos Display</vt:lpstr>
      <vt:lpstr>Arial</vt:lpstr>
      <vt:lpstr>Consolas</vt:lpstr>
      <vt:lpstr>Segoe UI Semibold</vt:lpstr>
      <vt:lpstr>Segoe UI Variable Display Semib</vt:lpstr>
      <vt:lpstr>Segoe UI Variable Small Semibol</vt:lpstr>
      <vt:lpstr>Segoe UI Variable Text</vt:lpstr>
      <vt:lpstr>Office Theme</vt:lpstr>
      <vt:lpstr>Import Data</vt:lpstr>
      <vt:lpstr>Create Project Roadmap</vt:lpstr>
      <vt:lpstr>Load Data Interface</vt:lpstr>
      <vt:lpstr>Establishing Table Relationships</vt:lpstr>
      <vt:lpstr>Create Calendar Lookup Table</vt:lpstr>
      <vt:lpstr>Create Time-intelligence columns</vt:lpstr>
      <vt:lpstr>Explain Time-intelligence columns</vt:lpstr>
      <vt:lpstr>Analyze Requirement</vt:lpstr>
      <vt:lpstr>Overview Dashboard</vt:lpstr>
      <vt:lpstr>Mock-up</vt:lpstr>
      <vt:lpstr>Set up Canvas Size</vt:lpstr>
      <vt:lpstr>Calculate Needed Columns</vt:lpstr>
      <vt:lpstr>Calculate Needed Measures</vt:lpstr>
      <vt:lpstr>Build KPI Card (1)</vt:lpstr>
      <vt:lpstr>Build KPI Card (2)</vt:lpstr>
      <vt:lpstr>Build KPI Card (3)</vt:lpstr>
      <vt:lpstr>Build KPI Card (3)</vt:lpstr>
      <vt:lpstr>Build KPI Card (3)</vt:lpstr>
      <vt:lpstr>Build Column Chart Showing Trend</vt:lpstr>
      <vt:lpstr>Build Comparison Bar Chart</vt:lpstr>
      <vt:lpstr>Build Filter Pane</vt:lpstr>
      <vt:lpstr>The First Draft Output</vt:lpstr>
      <vt:lpstr>PowerPoint Presentation</vt:lpstr>
      <vt:lpstr>Format the KPI Cards (1) </vt:lpstr>
      <vt:lpstr>Format Column Chart</vt:lpstr>
      <vt:lpstr>Format Column Chart</vt:lpstr>
      <vt:lpstr>Format Comparison Bar Chart</vt:lpstr>
      <vt:lpstr>Format Bar Chart</vt:lpstr>
      <vt:lpstr>Format Bar Chart</vt:lpstr>
      <vt:lpstr>Format Bar Chart</vt:lpstr>
      <vt:lpstr>Final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Trường Xuân</dc:creator>
  <cp:lastModifiedBy>Truong Nguyen Tran Xuan</cp:lastModifiedBy>
  <cp:revision>13</cp:revision>
  <dcterms:created xsi:type="dcterms:W3CDTF">2025-10-22T05:32:40Z</dcterms:created>
  <dcterms:modified xsi:type="dcterms:W3CDTF">2025-11-24T18:49:56Z</dcterms:modified>
</cp:coreProperties>
</file>